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这里展示两个已经存在但尚未自动接通的链路。不要把D组实验输出与前端50份分析缓存画成同一份成果。</a:t>
            </a:r>
          </a:p>
          <a:p/>
          <a:p>
            <a:r>
              <a:t>依据：gfi_prototype/research/pipeline.py；batch_analyze.py；gfi_prototype/portal.py；gfi_prototype/portal_server.py</a:t>
            </a:r>
          </a:p>
          <a:p/>
          <a:p>
            <a:r>
              <a:t>讲述补充：先用一句话概括主线：读取任务需求，检索仓库证据，再由Agent分析并核查结论；发现缺口则补检。研究D组结果并未自动写入门户缓存，原型使用已有v2分析档案。下一页展开“证据从哪里来”。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title"/>
          <p:cNvSpPr>
            <a:spLocks noGrp="1"/>
          </p:cNvSpPr>
          <p:nvPr/>
        </p:nvSpPr>
        <p:spPr>
          <a:xfrm>
            <a:off x="609600" y="400050"/>
            <a:ext cx="109728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科研软件 GFI 理解与推荐：总体流程</a:t>
            </a:r>
            <a:endParaRPr sz="322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3" name="overall-goal"/>
          <p:cNvSpPr>
            <a:spLocks noGrp="1"/>
          </p:cNvSpPr>
          <p:nvPr/>
        </p:nvSpPr>
        <p:spPr>
          <a:xfrm>
            <a:off x="609600" y="1381125"/>
            <a:ext cx="10972800" cy="552450"/>
          </a:xfrm>
          <a:prstGeom prst="rect">
            <a:avLst/>
          </a:prstGeom>
          <a:solidFill>
            <a:srgbClr val="E8F4F1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>
            <a:def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总目标  以 Issue 与固定版本源码为起点，形成可追溯的任务理解与同项目技术推荐</a:t>
            </a:r>
            <a:endParaRPr sz="1800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module-data-panel"/>
          <p:cNvSpPr>
            <a:spLocks noGrp="1"/>
          </p:cNvSpPr>
          <p:nvPr/>
        </p:nvSpPr>
        <p:spPr>
          <a:xfrm>
            <a:off x="609600" y="2190750"/>
            <a:ext cx="3143250" cy="3524250"/>
          </a:xfrm>
          <a:prstGeom prst="rect">
            <a:avLst/>
          </a:prstGeom>
          <a:solidFill>
            <a:srgbClr val="EDF3FA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5" name="module-data-title"/>
          <p:cNvSpPr>
            <a:spLocks noGrp="1"/>
          </p:cNvSpPr>
          <p:nvPr/>
        </p:nvSpPr>
        <p:spPr>
          <a:xfrm>
            <a:off x="7810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模块一  数据与证据</a:t>
            </a:r>
            <a:endParaRPr sz="1875" b="1">
              <a:solidFill>
                <a:srgbClr val="08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odule-data-input"/>
          <p:cNvSpPr>
            <a:spLocks noGrp="1"/>
          </p:cNvSpPr>
          <p:nvPr/>
        </p:nvSpPr>
        <p:spPr>
          <a:xfrm>
            <a:off x="781050" y="2781300"/>
            <a:ext cx="28003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>
            <a:def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个项目 · 967 条 Issue</a:t>
            </a:r>
            <a:endParaRPr sz="142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固定版本源码</a:t>
            </a:r>
            <a:endParaRPr sz="142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odule-data-clean"/>
          <p:cNvSpPr>
            <a:spLocks noGrp="1"/>
          </p:cNvSpPr>
          <p:nvPr/>
        </p:nvSpPr>
        <p:spPr>
          <a:xfrm>
            <a:off x="781050" y="3495675"/>
            <a:ext cx="28003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>
            <a:def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采集、清洗与源码索引</a:t>
            </a:r>
            <a:endParaRPr sz="1350" b="0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odule-data-evidence"/>
          <p:cNvSpPr>
            <a:spLocks noGrp="1"/>
          </p:cNvSpPr>
          <p:nvPr/>
        </p:nvSpPr>
        <p:spPr>
          <a:xfrm>
            <a:off x="781050" y="4133850"/>
            <a:ext cx="28003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>
            <a:def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检索代码、测试与文档</a:t>
            </a:r>
            <a:endParaRPr sz="1350" b="0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形成带路径和行号的证据包</a:t>
            </a:r>
            <a:endParaRPr sz="1350" b="0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直接箭头连接符 8"/>
          <p:cNvCxnSpPr>
            <a:stCxn id="6" idx="2"/>
            <a:endCxn id="7" idx="0"/>
          </p:cNvCxnSpPr>
          <p:nvPr/>
        </p:nvCxnSpPr>
        <p:spPr>
          <a:xfrm>
            <a:off x="2181225" y="3314700"/>
            <a:ext cx="0" cy="180975"/>
          </a:xfrm>
          <a:prstGeom prst="straightConnector1">
            <a:avLst/>
          </a:prstGeom>
          <a:ln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0" name="直接箭头连接符 9"/>
          <p:cNvCxnSpPr>
            <a:stCxn id="7" idx="2"/>
            <a:endCxn id="8" idx="0"/>
          </p:cNvCxnSpPr>
          <p:nvPr/>
        </p:nvCxnSpPr>
        <p:spPr>
          <a:xfrm>
            <a:off x="2181225" y="3952875"/>
            <a:ext cx="0" cy="180975"/>
          </a:xfrm>
          <a:prstGeom prst="straightConnector1">
            <a:avLst/>
          </a:prstGeom>
          <a:ln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12" name="module-research-panel"/>
          <p:cNvSpPr>
            <a:spLocks noGrp="1"/>
          </p:cNvSpPr>
          <p:nvPr/>
        </p:nvSpPr>
        <p:spPr>
          <a:xfrm>
            <a:off x="4162425" y="2190750"/>
            <a:ext cx="386715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13" name="module-research-title"/>
          <p:cNvSpPr>
            <a:spLocks noGrp="1"/>
          </p:cNvSpPr>
          <p:nvPr/>
        </p:nvSpPr>
        <p:spPr>
          <a:xfrm>
            <a:off x="4333875" y="234315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模块二  任务理解闭环</a:t>
            </a:r>
            <a:endParaRPr sz="1875" b="1">
              <a:solidFill>
                <a:srgbClr val="08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workflow-analyze"/>
          <p:cNvSpPr>
            <a:spLocks noGrp="1"/>
          </p:cNvSpPr>
          <p:nvPr/>
        </p:nvSpPr>
        <p:spPr>
          <a:xfrm>
            <a:off x="4333875" y="2781300"/>
            <a:ext cx="1028700" cy="552450"/>
          </a:xfrm>
          <a:prstGeom prst="rect">
            <a:avLst/>
          </a:prstGeom>
          <a:solidFill>
            <a:srgbClr val="EDF3FA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>
            <a:def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analyze</a:t>
            </a:r>
            <a:endParaRPr sz="131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任务分析</a:t>
            </a:r>
            <a:endParaRPr sz="131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orkflow-audit"/>
          <p:cNvSpPr>
            <a:spLocks noGrp="1"/>
          </p:cNvSpPr>
          <p:nvPr/>
        </p:nvSpPr>
        <p:spPr>
          <a:xfrm>
            <a:off x="5572125" y="2781300"/>
            <a:ext cx="10287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>
            <a:def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audit</a:t>
            </a:r>
            <a:endParaRPr sz="131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证据核查</a:t>
            </a:r>
            <a:endParaRPr sz="131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workflow-gate"/>
          <p:cNvSpPr>
            <a:spLocks noGrp="1"/>
          </p:cNvSpPr>
          <p:nvPr/>
        </p:nvSpPr>
        <p:spPr>
          <a:xfrm>
            <a:off x="6810375" y="2781300"/>
            <a:ext cx="1028700" cy="552450"/>
          </a:xfrm>
          <a:prstGeom prst="rect">
            <a:avLst/>
          </a:prstGeom>
          <a:solidFill>
            <a:srgbClr val="E8F4F1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>
            <a:def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  <a:endParaRPr sz="131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结论门控</a:t>
            </a:r>
            <a:endParaRPr sz="131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直接箭头连接符 16"/>
          <p:cNvCxnSpPr>
            <a:stCxn id="14" idx="3"/>
            <a:endCxn id="15" idx="1"/>
          </p:cNvCxnSpPr>
          <p:nvPr/>
        </p:nvCxnSpPr>
        <p:spPr>
          <a:xfrm>
            <a:off x="5362575" y="3057525"/>
            <a:ext cx="209550" cy="0"/>
          </a:xfrm>
          <a:prstGeom prst="straightConnector1">
            <a:avLst/>
          </a:prstGeom>
          <a:ln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8" name="直接箭头连接符 17"/>
          <p:cNvCxnSpPr>
            <a:stCxn id="15" idx="3"/>
            <a:endCxn id="16" idx="1"/>
          </p:cNvCxnSpPr>
          <p:nvPr/>
        </p:nvCxnSpPr>
        <p:spPr>
          <a:xfrm>
            <a:off x="6600825" y="3057525"/>
            <a:ext cx="209550" cy="0"/>
          </a:xfrm>
          <a:prstGeom prst="straightConnector1">
            <a:avLst/>
          </a:prstGeom>
          <a:ln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19" name="workflow-gap-decision"/>
          <p:cNvSpPr>
            <a:spLocks noGrp="1"/>
          </p:cNvSpPr>
          <p:nvPr/>
        </p:nvSpPr>
        <p:spPr>
          <a:xfrm>
            <a:off x="6705600" y="352425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>
            <a:def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有证据</a:t>
            </a:r>
            <a:endParaRPr sz="127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缺口？</a:t>
            </a:r>
            <a:endParaRPr sz="127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直接箭头连接符 19"/>
          <p:cNvCxnSpPr>
            <a:stCxn id="16" idx="2"/>
            <a:endCxn id="19" idx="0"/>
          </p:cNvCxnSpPr>
          <p:nvPr/>
        </p:nvCxnSpPr>
        <p:spPr>
          <a:xfrm>
            <a:off x="7324725" y="3333750"/>
            <a:ext cx="0" cy="190500"/>
          </a:xfrm>
          <a:prstGeom prst="straightConnector1">
            <a:avLst/>
          </a:prstGeom>
          <a:ln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21" name="workflow-supplement"/>
          <p:cNvSpPr>
            <a:spLocks noGrp="1"/>
          </p:cNvSpPr>
          <p:nvPr/>
        </p:nvSpPr>
        <p:spPr>
          <a:xfrm>
            <a:off x="4229100" y="4438650"/>
            <a:ext cx="1238250" cy="533400"/>
          </a:xfrm>
          <a:prstGeom prst="rect">
            <a:avLst/>
          </a:prstGeom>
          <a:solidFill>
            <a:srgbClr val="EDF3FA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 fontScale="88082"/>
          </a:bodyPr>
          <a:lstStyle>
            <a:def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有缺口</a:t>
            </a:r>
            <a:endParaRPr sz="1090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supplement</a:t>
            </a:r>
            <a:endParaRPr sz="1090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补检 ≤2轮</a:t>
            </a:r>
            <a:endParaRPr sz="1090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workflow-finalize"/>
          <p:cNvSpPr>
            <a:spLocks noGrp="1"/>
          </p:cNvSpPr>
          <p:nvPr/>
        </p:nvSpPr>
        <p:spPr>
          <a:xfrm>
            <a:off x="6705600" y="4457700"/>
            <a:ext cx="1238250" cy="495300"/>
          </a:xfrm>
          <a:prstGeom prst="rect">
            <a:avLst/>
          </a:prstGeom>
          <a:solidFill>
            <a:srgbClr val="E8F4F1"/>
          </a:solidFill>
          <a:ln w="9525">
            <a:solidFill>
              <a:srgbClr val="CFDCE5"/>
            </a:solidFill>
            <a:prstDash val="solid"/>
          </a:ln>
        </p:spPr>
        <p:txBody>
          <a:bodyPr wrap="square" lIns="66675" tIns="47625" rIns="66675" bIns="47625" anchor="ctr">
            <a:normAutofit fontScale="92373"/>
          </a:bodyPr>
          <a:lstStyle>
            <a:def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无缺口 / 到停止条件</a:t>
            </a:r>
            <a:endParaRPr sz="103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finalize · 整理结果</a:t>
            </a:r>
            <a:endParaRPr sz="103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gap-to-supplement-route"/>
          <p:cNvSpPr>
            <a:spLocks noGrp="1"/>
          </p:cNvSpPr>
          <p:nvPr/>
        </p:nvSpPr>
        <p:spPr>
          <a:xfrm>
            <a:off x="5467350" y="3848100"/>
            <a:ext cx="1238250" cy="857250"/>
          </a:xfrm>
          <a:custGeom>
            <a:avLst/>
            <a:gdLst/>
            <a:ahLst/>
            <a:cxnLst/>
            <a:pathLst>
              <a:path w="1238250" h="857250">
                <a:moveTo>
                  <a:pt x="1238250" y="0"/>
                </a:moveTo>
                <a:lnTo>
                  <a:pt x="304800" y="0"/>
                </a:lnTo>
                <a:lnTo>
                  <a:pt x="304800" y="857250"/>
                </a:lnTo>
                <a:lnTo>
                  <a:pt x="0" y="857250"/>
                </a:lnTo>
              </a:path>
            </a:pathLst>
          </a:custGeom>
          <a:noFill/>
          <a:ln w="19050">
            <a:solidFill>
              <a:srgbClr val="087F78"/>
            </a:solidFill>
            <a:prstDash val="solid"/>
          </a:ln>
        </p:spPr>
      </p:sp>
      <p:sp>
        <p:nvSpPr>
          <p:cNvPr id="24" name="gap-to-supplement-arrowhead"/>
          <p:cNvSpPr>
            <a:spLocks noGrp="1"/>
          </p:cNvSpPr>
          <p:nvPr/>
        </p:nvSpPr>
        <p:spPr>
          <a:xfrm rot="16200000">
            <a:off x="5410200" y="4657725"/>
            <a:ext cx="114300" cy="114300"/>
          </a:xfrm>
          <a:prstGeom prst="triangle">
            <a:avLst/>
          </a:prstGeom>
          <a:solidFill>
            <a:srgbClr val="087F78"/>
          </a:solidFill>
          <a:ln w="0">
            <a:noFill/>
            <a:prstDash val="solid"/>
          </a:ln>
        </p:spPr>
      </p:sp>
      <p:cxnSp>
        <p:nvCxnSpPr>
          <p:cNvPr id="25" name="直接箭头连接符 24"/>
          <p:cNvCxnSpPr>
            <a:stCxn id="19" idx="2"/>
            <a:endCxn id="22" idx="0"/>
          </p:cNvCxnSpPr>
          <p:nvPr/>
        </p:nvCxnSpPr>
        <p:spPr>
          <a:xfrm>
            <a:off x="7324725" y="4171950"/>
            <a:ext cx="0" cy="285750"/>
          </a:xfrm>
          <a:prstGeom prst="straightConnector1">
            <a:avLst/>
          </a:prstGeom>
          <a:ln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26" name="直接箭头连接符 25"/>
          <p:cNvCxnSpPr>
            <a:stCxn id="21" idx="0"/>
            <a:endCxn id="14" idx="2"/>
          </p:cNvCxnSpPr>
          <p:nvPr/>
        </p:nvCxnSpPr>
        <p:spPr>
          <a:xfrm flipV="1">
            <a:off x="4848225" y="3333750"/>
            <a:ext cx="0" cy="1104900"/>
          </a:xfrm>
          <a:prstGeom prst="straightConnector1">
            <a:avLst/>
          </a:prstGeom>
          <a:ln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27" name="workflow-result"/>
          <p:cNvSpPr>
            <a:spLocks noGrp="1"/>
          </p:cNvSpPr>
          <p:nvPr/>
        </p:nvSpPr>
        <p:spPr>
          <a:xfrm>
            <a:off x="4333875" y="51149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任务解释：目标 · 技术要求 · 入手建议 · 引用证据 · 未知项</a:t>
            </a:r>
            <a:endParaRPr sz="1165" b="1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module-research-path"/>
          <p:cNvSpPr>
            <a:spLocks noGrp="1"/>
          </p:cNvSpPr>
          <p:nvPr/>
        </p:nvSpPr>
        <p:spPr>
          <a:xfrm>
            <a:off x="4333875" y="54387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gfi_prototype/research/pipeline.py</a:t>
            </a:r>
            <a:endParaRPr sz="1050" b="0">
              <a:solidFill>
                <a:srgbClr val="5367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module-outputs-panel"/>
          <p:cNvSpPr>
            <a:spLocks noGrp="1"/>
          </p:cNvSpPr>
          <p:nvPr/>
        </p:nvSpPr>
        <p:spPr>
          <a:xfrm>
            <a:off x="8439150" y="2190750"/>
            <a:ext cx="3143250" cy="3524250"/>
          </a:xfrm>
          <a:prstGeom prst="rect">
            <a:avLst/>
          </a:prstGeom>
          <a:solidFill>
            <a:srgbClr val="E8F4F1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30" name="module-outputs-title"/>
          <p:cNvSpPr>
            <a:spLocks noGrp="1"/>
          </p:cNvSpPr>
          <p:nvPr/>
        </p:nvSpPr>
        <p:spPr>
          <a:xfrm>
            <a:off x="86106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模块三  评估与应用</a:t>
            </a:r>
            <a:endParaRPr sz="1875" b="1">
              <a:solidFill>
                <a:srgbClr val="08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module-evaluation"/>
          <p:cNvSpPr>
            <a:spLocks noGrp="1"/>
          </p:cNvSpPr>
          <p:nvPr/>
        </p:nvSpPr>
        <p:spPr>
          <a:xfrm>
            <a:off x="8610600" y="2781300"/>
            <a:ext cx="280035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32" name="evaluation-title"/>
          <p:cNvSpPr>
            <a:spLocks noGrp="1"/>
          </p:cNvSpPr>
          <p:nvPr/>
        </p:nvSpPr>
        <p:spPr>
          <a:xfrm>
            <a:off x="8724900" y="284797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方法验证</a:t>
            </a:r>
            <a:endParaRPr sz="1350" b="1">
              <a:solidFill>
                <a:srgbClr val="08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valuation-copy"/>
          <p:cNvSpPr>
            <a:spLocks noGrp="1"/>
          </p:cNvSpPr>
          <p:nvPr/>
        </p:nvSpPr>
        <p:spPr>
          <a:xfrm>
            <a:off x="8724900" y="3105150"/>
            <a:ext cx="25717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A/B/C/D：39 题 / 156 份</a:t>
            </a:r>
            <a:endParaRPr sz="1240" b="0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R/S/D：34 题 / 102 份</a:t>
            </a:r>
            <a:endParaRPr sz="1240" b="0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同题比较 · 模型辅助评分</a:t>
            </a:r>
            <a:endParaRPr sz="1240" b="0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valuation-path"/>
          <p:cNvSpPr>
            <a:spLocks noGrp="1"/>
          </p:cNvSpPr>
          <p:nvPr/>
        </p:nvSpPr>
        <p:spPr>
          <a:xfrm>
            <a:off x="8610600" y="3810000"/>
            <a:ext cx="2800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run_*.py · judge_*.py · experiments/</a:t>
            </a:r>
            <a:endParaRPr sz="1015" b="0">
              <a:solidFill>
                <a:srgbClr val="5367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module-prototype"/>
          <p:cNvSpPr>
            <a:spLocks noGrp="1"/>
          </p:cNvSpPr>
          <p:nvPr/>
        </p:nvSpPr>
        <p:spPr>
          <a:xfrm>
            <a:off x="8610600" y="4114800"/>
            <a:ext cx="28003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36" name="prototype-title"/>
          <p:cNvSpPr>
            <a:spLocks noGrp="1"/>
          </p:cNvSpPr>
          <p:nvPr/>
        </p:nvSpPr>
        <p:spPr>
          <a:xfrm>
            <a:off x="8724900" y="4162425"/>
            <a:ext cx="2571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原型推荐</a:t>
            </a:r>
            <a:endParaRPr sz="1350" b="1">
              <a:solidFill>
                <a:srgbClr val="08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prototype-copy"/>
          <p:cNvSpPr>
            <a:spLocks noGrp="1"/>
          </p:cNvSpPr>
          <p:nvPr/>
        </p:nvSpPr>
        <p:spPr>
          <a:xfrm>
            <a:off x="8724900" y="4391025"/>
            <a:ext cx="2571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份既有导读 · 技术标签归一化</a:t>
            </a:r>
            <a:endParaRPr sz="1165" b="0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 Jaccard · 同项目 GFI 推荐</a:t>
            </a:r>
            <a:endParaRPr sz="1165" b="0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中文门户 / 问答</a:t>
            </a:r>
            <a:endParaRPr sz="1165" b="0">
              <a:solidFill>
                <a:srgbClr val="14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prototype-path"/>
          <p:cNvSpPr>
            <a:spLocks noGrp="1"/>
          </p:cNvSpPr>
          <p:nvPr/>
        </p:nvSpPr>
        <p:spPr>
          <a:xfrm>
            <a:off x="8610600" y="4991100"/>
            <a:ext cx="2800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task_matching.py · portal*.py · web/</a:t>
            </a:r>
            <a:endParaRPr sz="1035" b="0">
              <a:solidFill>
                <a:srgbClr val="5367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prototype-reason"/>
          <p:cNvSpPr>
            <a:spLocks noGrp="1"/>
          </p:cNvSpPr>
          <p:nvPr/>
        </p:nvSpPr>
        <p:spPr>
          <a:xfrm>
            <a:off x="8610600" y="5305425"/>
            <a:ext cx="2800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共同技术 · 新增技术 · 推荐理由可追溯</a:t>
            </a:r>
            <a:endParaRPr sz="1050" b="1">
              <a:solidFill>
                <a:srgbClr val="08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直接箭头连接符 39"/>
          <p:cNvCxnSpPr>
            <a:stCxn id="4" idx="3"/>
            <a:endCxn id="12" idx="1"/>
          </p:cNvCxnSpPr>
          <p:nvPr/>
        </p:nvCxnSpPr>
        <p:spPr>
          <a:xfrm>
            <a:off x="3752850" y="3952875"/>
            <a:ext cx="409575" cy="0"/>
          </a:xfrm>
          <a:prstGeom prst="straightConnector1">
            <a:avLst/>
          </a:prstGeom>
          <a:ln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41" name="直接箭头连接符 40"/>
          <p:cNvCxnSpPr>
            <a:stCxn id="12" idx="3"/>
            <a:endCxn id="29" idx="1"/>
          </p:cNvCxnSpPr>
          <p:nvPr/>
        </p:nvCxnSpPr>
        <p:spPr>
          <a:xfrm>
            <a:off x="8029575" y="3952875"/>
            <a:ext cx="409575" cy="0"/>
          </a:xfrm>
          <a:prstGeom prst="straightConnector1">
            <a:avLst/>
          </a:prstGeom>
          <a:ln w="19050">
            <a:solidFill>
              <a:srgbClr val="087F78"/>
            </a:solidFill>
            <a:prstDash val="solid"/>
            <a:tailEnd type="arrow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WPS 演示</Application>
  <PresentationFormat>Converted Presentation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 λ</cp:lastModifiedBy>
  <cp:revision>1</cp:revision>
  <dcterms:created xsi:type="dcterms:W3CDTF">2026-10-20T03:18:51Z</dcterms:created>
  <dcterms:modified xsi:type="dcterms:W3CDTF">2026-10-20T03:18:51Z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2052-12.1.0.29158</vt:lpwstr>
  </property>
  <property fmtid="{D5CDD505-2E9C-101B-9397-08002B2CF9AE}" pid="3" name="ICV">
    <vt:lpwstr>B8D0308FED4E440FAC6895F830023549_12</vt:lpwstr>
  </property>
</Properties>
</file>