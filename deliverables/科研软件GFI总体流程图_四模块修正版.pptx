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05fae5e43544c5" /><Relationship Type="http://schemas.openxmlformats.org/officeDocument/2006/relationships/extended-properties" Target="/docProps/app.xml" Id="Rbd594b7757974cec" /><Relationship Type="http://schemas.openxmlformats.org/officeDocument/2006/relationships/officeDocument" Target="/ppt/presentation.xml" Id="R3c984e19a8c741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7a49748cb41cd"/>
  </p:sldMasterIdLst>
  <p:notesMasterIdLst>
    <p:notesMasterId xmlns:r="http://schemas.openxmlformats.org/officeDocument/2006/relationships" r:id="R779355f62dd245c1"/>
  </p:notesMasterIdLst>
  <p:sldIdLst>
    <p:sldId xmlns:r="http://schemas.openxmlformats.org/officeDocument/2006/relationships" id="256" r:id="R2bdcef2b8ce849f2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a0d4294874dd1" /><Relationship Type="http://schemas.openxmlformats.org/officeDocument/2006/relationships/slideMaster" Target="/ppt/slideMasters/slideMaster1.xml" Id="Re557a49748cb41cd" /><Relationship Type="http://schemas.openxmlformats.org/officeDocument/2006/relationships/notesMaster" Target="/ppt/notesMasters/notesMaster1.xml" Id="R779355f62dd245c1" /><Relationship Type="http://schemas.openxmlformats.org/officeDocument/2006/relationships/presProps" Target="/ppt/presProps.xml" Id="R4847aefc3e484ef2" /><Relationship Type="http://schemas.openxmlformats.org/officeDocument/2006/relationships/viewProps" Target="/ppt/viewProps.xml" Id="R021ffbdaa8f94ae0" /><Relationship Type="http://schemas.openxmlformats.org/officeDocument/2006/relationships/tableStyles" Target="/ppt/tableStyles.xml" Id="R1874a6a118be4912" /><Relationship Type="http://schemas.openxmlformats.org/officeDocument/2006/relationships/slide" Target="/ppt/slides/slide1.xml" Id="R2bdcef2b8ce849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78d69467f1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3e996755f643be" /><Relationship Type="http://schemas.openxmlformats.org/officeDocument/2006/relationships/notesMaster" Target="/ppt/notesMasters/notesMaster1.xml" Id="Rdcdfc99b220744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这里展示两个已经存在但尚未自动接通的链路。不要把D组实验输出与前端50份分析缓存画成同一份成果。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依据：gfi_prototype/research/pipeline.py；batch_analyze.py；gfi_prototype/portal.py；gfi_prototype/portal_server.py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讲述补充：先用一句话概括主线：读取任务需求，检索仓库证据，再由Agent分析并核查结论；发现缺口则补检。研究D组结果并未自动写入门户缓存，原型使用已有v2分析档案。下一页展开“证据从哪里来”。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3c19b656864b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3e7dd248f41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7c5f2582a943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bf3cb86e0480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fb76ea0fc4eb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97a5cff4f48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63234F8-97E1-4CF0-9E0B-523EEBB5D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DFEEA41-7C22-4514-B5FD-35CBA2B8F3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46B1C0-85FA-4D65-8B5B-8C06E5F557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9BA1DD-BFBB-4819-92FC-9B924D82C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1C1A36C-0070-4CE9-A7F4-A2803E1FF9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9BAB62-69ED-4B69-8261-EC37D30D9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9FB423F-4438-4718-8777-3D6251ADCC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8AB589-8695-450C-88B8-8252373C1A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8002F29-C9E0-45C2-866D-988A6559C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5CD13B-9D6B-4F2D-8AC8-A8D32B5AC6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0644638af14c25" /><Relationship Type="http://schemas.openxmlformats.org/officeDocument/2006/relationships/slideLayout" Target="/ppt/slideLayouts/slideLayout1.xml" Id="Rc2f95d173d79474b" /><Relationship Type="http://schemas.openxmlformats.org/officeDocument/2006/relationships/slideLayout" Target="/ppt/slideLayouts/slideLayout2.xml" Id="R0db1038cf031479c" /><Relationship Type="http://schemas.openxmlformats.org/officeDocument/2006/relationships/slideLayout" Target="/ppt/slideLayouts/slideLayout3.xml" Id="Readb4bf052444119" /><Relationship Type="http://schemas.openxmlformats.org/officeDocument/2006/relationships/slideLayout" Target="/ppt/slideLayouts/slideLayout4.xml" Id="Rebc2e67456634991" /><Relationship Type="http://schemas.openxmlformats.org/officeDocument/2006/relationships/slideLayout" Target="/ppt/slideLayouts/slideLayout5.xml" Id="R9c58770432034bdb" /><Relationship Type="http://schemas.openxmlformats.org/officeDocument/2006/relationships/slideLayout" Target="/ppt/slideLayouts/slideLayout6.xml" Id="R748f6703a38344e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f95d173d79474b"/>
    <p:sldLayoutId xmlns:r="http://schemas.openxmlformats.org/officeDocument/2006/relationships" id="2147483650" r:id="R0db1038cf031479c"/>
    <p:sldLayoutId xmlns:r="http://schemas.openxmlformats.org/officeDocument/2006/relationships" id="2147483651" r:id="Readb4bf052444119"/>
    <p:sldLayoutId xmlns:r="http://schemas.openxmlformats.org/officeDocument/2006/relationships" id="2147483652" r:id="Rebc2e67456634991"/>
    <p:sldLayoutId xmlns:r="http://schemas.openxmlformats.org/officeDocument/2006/relationships" id="2147483653" r:id="R9c58770432034bdb"/>
    <p:sldLayoutId xmlns:r="http://schemas.openxmlformats.org/officeDocument/2006/relationships" id="2147483654" r:id="R748f6703a38344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7cf501c7144c0e" /><Relationship Type="http://schemas.openxmlformats.org/officeDocument/2006/relationships/notesSlide" Target="/ppt/notesSlides/notesSlide1.xml" Id="Re11347109b3e419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">
            <a:extLst xmlns:a="http://schemas.openxmlformats.org/drawingml/2006/main">
              <a:ext uri="{FF2B5EF4-FFF2-40B4-BE49-F238E27FC236}">
                <a16:creationId xmlns:a16="http://schemas.microsoft.com/office/drawing/2014/main" id="{F968C7BE-B99B-4BE2-8FDF-F70921B3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科研软件 GFI 理解与推荐：总体流程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B02C2D-2765-4EDB-8939-3C1C167D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CE5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" name="overall-goal">
            <a:extLst xmlns:a="http://schemas.openxmlformats.org/drawingml/2006/main">
              <a:ext uri="{FF2B5EF4-FFF2-40B4-BE49-F238E27FC236}">
                <a16:creationId xmlns:a16="http://schemas.microsoft.com/office/drawing/2014/main" id="{566C88D8-437A-494F-B3C7-22FD2321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总目标  以 Issue 与固定版本源码为起点，形成可追溯的任务理解与同项目技术推荐</a:t>
            </a:r>
          </a:p>
        </p:txBody>
      </p:sp>
      <p:sp>
        <p:nvSpPr>
          <p:cNvPr id="4" name="module-data-panel">
            <a:extLst xmlns:a="http://schemas.openxmlformats.org/drawingml/2006/main">
              <a:ext uri="{FF2B5EF4-FFF2-40B4-BE49-F238E27FC236}">
                <a16:creationId xmlns:a16="http://schemas.microsoft.com/office/drawing/2014/main" id="{971FCBAC-6698-4B49-B026-782B6FDF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257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5" name="module-data-title">
            <a:extLst xmlns:a="http://schemas.openxmlformats.org/drawingml/2006/main">
              <a:ext uri="{FF2B5EF4-FFF2-40B4-BE49-F238E27FC236}">
                <a16:creationId xmlns:a16="http://schemas.microsoft.com/office/drawing/2014/main" id="{3A7EC790-B45C-4B65-BAE1-DD3B44C8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491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模块一  数据与证据</a:t>
            </a:r>
          </a:p>
        </p:txBody>
      </p:sp>
      <p:sp>
        <p:nvSpPr>
          <p:cNvPr id="6" name="data-input">
            <a:extLst xmlns:a="http://schemas.openxmlformats.org/drawingml/2006/main">
              <a:ext uri="{FF2B5EF4-FFF2-40B4-BE49-F238E27FC236}">
                <a16:creationId xmlns:a16="http://schemas.microsoft.com/office/drawing/2014/main" id="{614B6D6A-5DD8-42D3-9C47-85D6F374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1503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 个项目 · 967 条 Issue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固定版本源码</a:t>
            </a:r>
          </a:p>
        </p:txBody>
      </p:sp>
      <p:sp>
        <p:nvSpPr>
          <p:cNvPr id="7" name="data-clean">
            <a:extLst xmlns:a="http://schemas.openxmlformats.org/drawingml/2006/main">
              <a:ext uri="{FF2B5EF4-FFF2-40B4-BE49-F238E27FC236}">
                <a16:creationId xmlns:a16="http://schemas.microsoft.com/office/drawing/2014/main" id="{D4DB936C-7D47-4A21-9820-88FFD3F9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76525"/>
            <a:ext cx="15049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采集清洗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源码索引</a:t>
            </a:r>
          </a:p>
        </p:txBody>
      </p:sp>
      <p:sp>
        <p:nvSpPr>
          <p:cNvPr id="8" name="data-packet">
            <a:extLst xmlns:a="http://schemas.openxmlformats.org/drawingml/2006/main">
              <a:ext uri="{FF2B5EF4-FFF2-40B4-BE49-F238E27FC236}">
                <a16:creationId xmlns:a16="http://schemas.microsoft.com/office/drawing/2014/main" id="{0FAEB994-A7CB-4C46-AC1B-83CBBA53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765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代码 / 测试 / 文档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路径与行号证据包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3A72F6-6341-4320-86B1-2FAF4BF6BF8B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86000" y="2990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85E54-D182-4A5C-B201-02FB598FB5F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81450" y="2990850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11" name="data-path">
            <a:extLst xmlns:a="http://schemas.openxmlformats.org/drawingml/2006/main">
              <a:ext uri="{FF2B5EF4-FFF2-40B4-BE49-F238E27FC236}">
                <a16:creationId xmlns:a16="http://schemas.microsoft.com/office/drawing/2014/main" id="{DE6ED55E-9AEF-4CC4-9DDD-DB647792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collect_*.py · data/ · research/retrieval.py</a:t>
            </a:r>
          </a:p>
        </p:txBody>
      </p:sp>
      <p:sp>
        <p:nvSpPr>
          <p:cNvPr id="12" name="module-research-panel">
            <a:extLst xmlns:a="http://schemas.openxmlformats.org/drawingml/2006/main">
              <a:ext uri="{FF2B5EF4-FFF2-40B4-BE49-F238E27FC236}">
                <a16:creationId xmlns:a16="http://schemas.microsoft.com/office/drawing/2014/main" id="{8DF3A63F-11DA-4A21-9B61-A7097C09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2578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13" name="module-research-title">
            <a:extLst xmlns:a="http://schemas.openxmlformats.org/drawingml/2006/main">
              <a:ext uri="{FF2B5EF4-FFF2-40B4-BE49-F238E27FC236}">
                <a16:creationId xmlns:a16="http://schemas.microsoft.com/office/drawing/2014/main" id="{1005ABE3-B40A-4C85-BFBE-5E2917D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49149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模块二  任务理解闭环</a:t>
            </a:r>
          </a:p>
        </p:txBody>
      </p:sp>
      <p:sp>
        <p:nvSpPr>
          <p:cNvPr id="14" name="analyze">
            <a:extLst xmlns:a="http://schemas.openxmlformats.org/drawingml/2006/main">
              <a:ext uri="{FF2B5EF4-FFF2-40B4-BE49-F238E27FC236}">
                <a16:creationId xmlns:a16="http://schemas.microsoft.com/office/drawing/2014/main" id="{1B4C8765-539B-4F31-903E-C7DD96A99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analyze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任务分析</a:t>
            </a:r>
          </a:p>
        </p:txBody>
      </p:sp>
      <p:sp>
        <p:nvSpPr>
          <p:cNvPr id="15" name="audit">
            <a:extLst xmlns:a="http://schemas.openxmlformats.org/drawingml/2006/main">
              <a:ext uri="{FF2B5EF4-FFF2-40B4-BE49-F238E27FC236}">
                <a16:creationId xmlns:a16="http://schemas.microsoft.com/office/drawing/2014/main" id="{DC2FC2B0-285E-45BE-9BDF-CC4FECE3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audit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证据核查</a:t>
            </a:r>
          </a:p>
        </p:txBody>
      </p:sp>
      <p:sp>
        <p:nvSpPr>
          <p:cNvPr id="16" name="gate">
            <a:extLst xmlns:a="http://schemas.openxmlformats.org/drawingml/2006/main">
              <a:ext uri="{FF2B5EF4-FFF2-40B4-BE49-F238E27FC236}">
                <a16:creationId xmlns:a16="http://schemas.microsoft.com/office/drawing/2014/main" id="{622890AF-6DDF-4FDC-8158-CA0300A8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67000"/>
            <a:ext cx="1047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gate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结论门控</a:t>
            </a:r>
          </a:p>
        </p:txBody>
      </p:sp>
      <p:sp>
        <p:nvSpPr>
          <p:cNvPr id="17" name="finalize">
            <a:extLst xmlns:a="http://schemas.openxmlformats.org/drawingml/2006/main">
              <a:ext uri="{FF2B5EF4-FFF2-40B4-BE49-F238E27FC236}">
                <a16:creationId xmlns:a16="http://schemas.microsoft.com/office/drawing/2014/main" id="{DC144552-8C3B-4A08-AF26-337B4C61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67000"/>
            <a:ext cx="10287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3137"/>
          </a:bodyPr>
          <a:lstStyle xmlns:a="http://schemas.openxmlformats.org/drawingml/2006/main">
            <a:def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finalize</a:t>
            </a:r>
          </a:p>
          <a:p xmlns:a="http://schemas.openxmlformats.org/drawingml/2006/main">
            <a:pPr algn="ctr">
              <a:def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完整结果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F07D0-D971-4C0A-87C1-60C519A41498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5438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AC137-3C29-4DCE-8847-2F903F69B2B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8392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AA5399-DCD9-450D-BCFE-D33A53BB51A6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34600" y="28956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21" name="supplement-loop">
            <a:extLst xmlns:a="http://schemas.openxmlformats.org/drawingml/2006/main">
              <a:ext uri="{FF2B5EF4-FFF2-40B4-BE49-F238E27FC236}">
                <a16:creationId xmlns:a16="http://schemas.microsoft.com/office/drawing/2014/main" id="{A280A3A8-33A3-487C-8C0B-959041B4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124200"/>
            <a:ext cx="2590800" cy="276225"/>
          </a:xfrm>
          <a:custGeom xmlns:a="http://schemas.openxmlformats.org/drawingml/2006/main">
            <a:pathLst>
              <a:path w="2590800" h="276225">
                <a:moveTo>
                  <a:pt x="2590800" y="0"/>
                </a:moveTo>
                <a:lnTo>
                  <a:pt x="2590800" y="276225"/>
                </a:lnTo>
                <a:lnTo>
                  <a:pt x="0" y="276225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78"/>
            </a:solidFill>
            <a:prstDash val="solid"/>
          </a:ln>
        </p:spPr>
      </p:sp>
      <p:sp>
        <p:nvSpPr>
          <p:cNvPr id="22" name="loop-arrowhead">
            <a:extLst xmlns:a="http://schemas.openxmlformats.org/drawingml/2006/main">
              <a:ext uri="{FF2B5EF4-FFF2-40B4-BE49-F238E27FC236}">
                <a16:creationId xmlns:a16="http://schemas.microsoft.com/office/drawing/2014/main" id="{06C8CDD7-3EA2-4C7D-8841-631FA31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8610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7F78"/>
          </a:solidFill>
          <a:ln xmlns:a="http://schemas.openxmlformats.org/drawingml/2006/main" w="0">
            <a:noFill/>
          </a:ln>
        </p:spPr>
      </p:sp>
      <p:sp>
        <p:nvSpPr>
          <p:cNvPr id="23" name="supplement">
            <a:extLst xmlns:a="http://schemas.openxmlformats.org/drawingml/2006/main">
              <a:ext uri="{FF2B5EF4-FFF2-40B4-BE49-F238E27FC236}">
                <a16:creationId xmlns:a16="http://schemas.microsoft.com/office/drawing/2014/main" id="{F3A89AAF-9DE3-4D0F-BD1B-6EBAC1C1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57550"/>
            <a:ext cx="3314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08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有证据缺口：supplement 补检 ≤2轮，再分析</a:t>
            </a:r>
          </a:p>
        </p:txBody>
      </p:sp>
      <p:sp>
        <p:nvSpPr>
          <p:cNvPr id="24" name="research-path">
            <a:extLst xmlns:a="http://schemas.openxmlformats.org/drawingml/2006/main">
              <a:ext uri="{FF2B5EF4-FFF2-40B4-BE49-F238E27FC236}">
                <a16:creationId xmlns:a16="http://schemas.microsoft.com/office/drawing/2014/main" id="{69A6C682-16FD-491E-822B-FB5CCB50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914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2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research/pipeline.py · 输出目标、技术、入手建议、引用与未知项</a:t>
            </a:r>
          </a:p>
        </p:txBody>
      </p:sp>
      <p:sp>
        <p:nvSpPr>
          <p:cNvPr id="25" name="module-application-panel">
            <a:extLst xmlns:a="http://schemas.openxmlformats.org/drawingml/2006/main">
              <a:ext uri="{FF2B5EF4-FFF2-40B4-BE49-F238E27FC236}">
                <a16:creationId xmlns:a16="http://schemas.microsoft.com/office/drawing/2014/main" id="{B158D153-3015-4878-A9F4-7D9FA5E1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257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4F1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26" name="module-application-title">
            <a:extLst xmlns:a="http://schemas.openxmlformats.org/drawingml/2006/main">
              <a:ext uri="{FF2B5EF4-FFF2-40B4-BE49-F238E27FC236}">
                <a16:creationId xmlns:a16="http://schemas.microsoft.com/office/drawing/2014/main" id="{7F6EA1BD-FA5F-4B21-84CC-94F41442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模块三  评估与应用</a:t>
            </a:r>
          </a:p>
        </p:txBody>
      </p:sp>
      <p:sp>
        <p:nvSpPr>
          <p:cNvPr id="27" name="evaluation">
            <a:extLst xmlns:a="http://schemas.openxmlformats.org/drawingml/2006/main">
              <a:ext uri="{FF2B5EF4-FFF2-40B4-BE49-F238E27FC236}">
                <a16:creationId xmlns:a16="http://schemas.microsoft.com/office/drawing/2014/main" id="{647530DE-7A25-4629-B081-F823DBB6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2343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方法验证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A/B/C/D：39题 / 156份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R/S/D：34题 / 102份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同题比较 · 模型辅助评分</a:t>
            </a:r>
          </a:p>
        </p:txBody>
      </p:sp>
      <p:sp>
        <p:nvSpPr>
          <p:cNvPr id="28" name="prototype-application">
            <a:extLst xmlns:a="http://schemas.openxmlformats.org/drawingml/2006/main">
              <a:ext uri="{FF2B5EF4-FFF2-40B4-BE49-F238E27FC236}">
                <a16:creationId xmlns:a16="http://schemas.microsoft.com/office/drawing/2014/main" id="{34E7FE1E-22DF-49F0-B4DA-315224E1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29150"/>
            <a:ext cx="2381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原型应用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中文任务导读 · 仓库证据追溯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展示相关 GFI 与推荐理由</a:t>
            </a:r>
          </a:p>
          <a:p xmlns:a="http://schemas.openxmlformats.org/drawingml/2006/main">
            <a:pPr algn="ctr">
              <a:def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支持流式追问</a:t>
            </a:r>
          </a:p>
        </p:txBody>
      </p:sp>
      <p:sp>
        <p:nvSpPr>
          <p:cNvPr id="29" name="evaluation-path">
            <a:extLst xmlns:a="http://schemas.openxmlformats.org/drawingml/2006/main">
              <a:ext uri="{FF2B5EF4-FFF2-40B4-BE49-F238E27FC236}">
                <a16:creationId xmlns:a16="http://schemas.microsoft.com/office/drawing/2014/main" id="{1AF6D1F8-5D97-4A5D-8496-C05FEB4A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43575"/>
            <a:ext cx="2343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98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run_*.py · judge_*.py · experiments/</a:t>
            </a:r>
          </a:p>
        </p:txBody>
      </p:sp>
      <p:sp>
        <p:nvSpPr>
          <p:cNvPr id="30" name="prototype-path">
            <a:extLst xmlns:a="http://schemas.openxmlformats.org/drawingml/2006/main">
              <a:ext uri="{FF2B5EF4-FFF2-40B4-BE49-F238E27FC236}">
                <a16:creationId xmlns:a16="http://schemas.microsoft.com/office/drawing/2014/main" id="{CCC4D66B-A2A3-4DB4-BCFE-5B2AA35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7435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gfi_prototype/portal*.py · chat.py · web/</a:t>
            </a:r>
          </a:p>
        </p:txBody>
      </p:sp>
      <p:sp>
        <p:nvSpPr>
          <p:cNvPr id="31" name="module-recommendation-panel">
            <a:extLst xmlns:a="http://schemas.openxmlformats.org/drawingml/2006/main">
              <a:ext uri="{FF2B5EF4-FFF2-40B4-BE49-F238E27FC236}">
                <a16:creationId xmlns:a16="http://schemas.microsoft.com/office/drawing/2014/main" id="{10140BC4-BA39-4BB7-8F2E-7FFDCFDA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52578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</p:sp>
      <p:sp>
        <p:nvSpPr>
          <p:cNvPr id="32" name="module-recommendation-title">
            <a:extLst xmlns:a="http://schemas.openxmlformats.org/drawingml/2006/main">
              <a:ext uri="{FF2B5EF4-FFF2-40B4-BE49-F238E27FC236}">
                <a16:creationId xmlns:a16="http://schemas.microsoft.com/office/drawing/2014/main" id="{35D19BD8-C39F-4E41-8BD0-BA04D575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0050"/>
            <a:ext cx="4914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087F78"/>
                </a:solidFill>
                <a:latin typeface="微软雅黑"/>
                <a:ea typeface="微软雅黑"/>
                <a:cs typeface="微软雅黑"/>
              </a:rPr>
              <a:t>模块四  GFI 推荐</a:t>
            </a:r>
          </a:p>
        </p:txBody>
      </p:sp>
      <p:sp>
        <p:nvSpPr>
          <p:cNvPr id="33" name="recommendation-tags">
            <a:extLst xmlns:a="http://schemas.openxmlformats.org/drawingml/2006/main">
              <a:ext uri="{FF2B5EF4-FFF2-40B4-BE49-F238E27FC236}">
                <a16:creationId xmlns:a16="http://schemas.microsoft.com/office/drawing/2014/main" id="{EDC820E1-D7E3-450E-ADF6-1664A6EB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66725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50份既有导读</a:t>
            </a:r>
          </a:p>
          <a:p xmlns:a="http://schemas.openxmlformats.org/drawingml/2006/main">
            <a:pPr algn="ctr">
              <a:def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归一化技术标签</a:t>
            </a:r>
          </a:p>
        </p:txBody>
      </p:sp>
      <p:sp>
        <p:nvSpPr>
          <p:cNvPr id="34" name="recommendation-rank">
            <a:extLst xmlns:a="http://schemas.openxmlformats.org/drawingml/2006/main">
              <a:ext uri="{FF2B5EF4-FFF2-40B4-BE49-F238E27FC236}">
                <a16:creationId xmlns:a16="http://schemas.microsoft.com/office/drawing/2014/main" id="{79BE6670-DBCB-4BF1-9C2A-8DA2613E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667250"/>
            <a:ext cx="14763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筛选同项目候选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加权 Jaccard 排序</a:t>
            </a:r>
          </a:p>
        </p:txBody>
      </p:sp>
      <p:sp>
        <p:nvSpPr>
          <p:cNvPr id="35" name="recommendation-reason">
            <a:extLst xmlns:a="http://schemas.openxmlformats.org/drawingml/2006/main">
              <a:ext uri="{FF2B5EF4-FFF2-40B4-BE49-F238E27FC236}">
                <a16:creationId xmlns:a16="http://schemas.microsoft.com/office/drawing/2014/main" id="{4527092C-5C77-4380-A018-121D3B60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67250"/>
            <a:ext cx="15430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CE5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9429"/>
          </a:bodyPr>
          <a:lstStyle xmlns:a="http://schemas.openxmlformats.org/drawingml/2006/main">
            <a:def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共同技术与新增技术</a:t>
            </a:r>
          </a:p>
          <a:p xmlns:a="http://schemas.openxmlformats.org/drawingml/2006/main">
            <a:pPr algn="ctr">
              <a:def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defRPr>
            </a:pPr>
            <a:r>
              <a:rPr sz="1238" b="0">
                <a:solidFill>
                  <a:srgbClr val="142A40"/>
                </a:solidFill>
                <a:latin typeface="微软雅黑"/>
                <a:ea typeface="微软雅黑"/>
                <a:cs typeface="微软雅黑"/>
              </a:rPr>
              <a:t>推荐理由与证据来源</a:t>
            </a:r>
          </a:p>
        </p:txBody>
      </p: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6A55CD-96DC-4B47-B518-38C83FC308CD}"/>
              </a:ext>
            </a:extLst>
          </p:cNvPr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7972425" y="50768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186658-1A3F-465C-A15D-60F969A94932}"/>
              </a:ext>
            </a:extLst>
          </p:cNvPr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658350" y="507682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sp>
        <p:nvSpPr>
          <p:cNvPr id="38" name="recommendation-path">
            <a:extLst xmlns:a="http://schemas.openxmlformats.org/drawingml/2006/main">
              <a:ext uri="{FF2B5EF4-FFF2-40B4-BE49-F238E27FC236}">
                <a16:creationId xmlns:a16="http://schemas.microsoft.com/office/drawing/2014/main" id="{884C2D1C-C5E9-4111-B9D3-346E548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705475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3677B"/>
                </a:solidFill>
                <a:latin typeface="微软雅黑"/>
                <a:ea typeface="微软雅黑"/>
                <a:cs typeface="微软雅黑"/>
              </a:rPr>
              <a:t>gfi_prototype/task_matching.py · 输出同项目候选及可追溯推荐理由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B2442D-8EDB-4408-A296-50A46386283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67400" y="30003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0C33F1-1140-4AAF-8128-ABCBFD5A5C6A}"/>
              </a:ext>
            </a:extLst>
          </p:cNvPr>
          <p:cNvCxnSpPr>
            <a:stCxn xmlns:a="http://schemas.openxmlformats.org/drawingml/2006/main" id="31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867400" y="51149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78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1420713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2026-10-20T02:28:29.0770000Z</dcterms:created>
  <dcterms:modified xsi:type="dcterms:W3CDTF">2026-10-20T02:28:29.0770000Z</dcterms:modified>
</coreProperties>
</file>