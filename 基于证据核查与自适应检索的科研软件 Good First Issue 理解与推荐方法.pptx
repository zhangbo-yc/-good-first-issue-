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2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介绍项目时先强调：研究重点是任务理解方法，贡献导航是可运行原型中的辅助能力。</a:t>
            </a:r>
          </a:p>
          <a:p>
            <a:endParaRPr/>
          </a:p>
          <a:p>
            <a:r>
              <a:t>依据：用户提供的演示ppt.pptx，第1页；README.md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任务门槛是对完成此任务所需基础的判断，不是对具体用户能力的画像。</a:t>
            </a:r>
          </a:p>
          <a:p>
            <a:endParaRPr/>
          </a:p>
          <a:p>
            <a:r>
              <a:t>依据：演示ppt.pptx，第2页；gfi_prototype/analysis_v2.py；gfi_prototype/task_matching.py</a:t>
            </a:r>
          </a:p>
          <a:p>
            <a:endParaRPr/>
          </a:p>
          <a:p>
            <a:r>
              <a:t>讲述补充：任务所需最低知识基础即“能力门槛”；这描述任务要求，供用户自我判断，不建立个人画像或推断个人成功率。接下来先介绍材料来源，再说明怎样把材料组织成证据。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945和22是967的组成部分，不能再次叠加计数。评论与时间线数据不进入研究分析条件。</a:t>
            </a:r>
          </a:p>
          <a:p>
            <a:endParaRPr/>
          </a:p>
          <a:p>
            <a:r>
              <a:t>依据：演示ppt.pptx，第3页；data/*/processed/triage.jsonl；data/DATA_AUDIT.md</a:t>
            </a:r>
          </a:p>
          <a:p>
            <a:endParaRPr/>
          </a:p>
          <a:p>
            <a:r>
              <a:t>讲述补充：数据通过GitHub API采集。945和22是967的组成部分。评论和时间线只作采集留档，未进入本次研究输入。材料准备好后，需要说明各环节如何协作。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这里展示两个已经存在但尚未自动接通的链路。不要把D组实验输出与前端50份分析缓存画成同一份成果。</a:t>
            </a:r>
          </a:p>
          <a:p>
            <a:endParaRPr/>
          </a:p>
          <a:p>
            <a:r>
              <a:t>依据：gfi_prototype/research/pipeline.py；batch_analyze.py；gfi_prototype/portal.py；gfi_prototype/portal_server.py</a:t>
            </a:r>
          </a:p>
          <a:p>
            <a:endParaRPr/>
          </a:p>
          <a:p>
            <a:r>
              <a:t>讲述补充：先用一句话概括主线：读取任务需求，检索仓库证据，再由Agent分析并核查结论；发现缺口则补检。研究D组结果并未自动写入门户缓存，原型使用已有v2分析档案。下一页展开“证据从哪里来”。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索引80行分片、60行步长，存在20行重叠。研究证据包按JSON字符长度限制最多42000；Issue正文截取前6500字符。</a:t>
            </a:r>
          </a:p>
          <a:p>
            <a:endParaRPr/>
          </a:p>
          <a:p>
            <a:r>
              <a:t>依据：gfi_prototype/retrieval.py；gfi_prototype/research/retrieval.py</a:t>
            </a:r>
          </a:p>
          <a:p>
            <a:endParaRPr/>
          </a:p>
          <a:p>
            <a:r>
              <a:t>讲述补充：“证据包”就是给本次任务分析使用的需求、仓库片段及来源集合。检索实现为SQLite FTS5＋BM25；片段最多80行、步长60行，初始最多8片；正文前6500字符，研究证据包最多42000字符。正文先讲用途，追问时再说明这些参数。检索命中本身不等于语义支持。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五个实际LangGraph节点为analyze、audit、gate、supplement、finalize。分析与核查使用同一DeepSeek Flash模型、不同角色提示词。状态为WorkflowState；异常时只返回最后完整轮，无完整轮则失败。当前框架版本evidence_adaptive_langgraph_v1。</a:t>
            </a:r>
          </a:p>
          <a:p>
            <a:endParaRPr/>
          </a:p>
          <a:p>
            <a:r>
              <a:t>依据：gfi_prototype/research/pipeline.py；gfi_prototype/research/client.py；gfi_prototype/research/evidence.py；docs/LANGGRAPH_WORKFLOW.md</a:t>
            </a:r>
          </a:p>
          <a:p>
            <a:endParaRPr/>
          </a:p>
          <a:p>
            <a:r>
              <a:t>讲述补充：“门控”指筛选结论：保留直接支持和合理推断，暂缓部分支持及不足结论并记录未知。仅目标、技术要求、能力门槛和验收项进入该门控；原始入手步骤与文件列表另行保留。无检索词、无新证据、达两轮上限、预算不足或模型/检索/校验异常时停止，返回最后完整轮。用下一页真实轨迹解释补检怎样改变输出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资料来源：experiments/frozen_20261017/equal_calls_v1/results/ray-project__ray__3269/D.json；快照3235a8e1e84de7c7fde217553c83e3c38d8560fe。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五项目945条具体任务中排除已有分析缓存和标注草稿任务；项目配额10/10/10/10/5，按task_types首标签分层，组内固定seed20261017打乱，层间轮询。再剔除Manim2379和五项目开发样例，正式39题。A/B评原分析核心字段，C/D评门控核心字段。</a:t>
            </a:r>
          </a:p>
          <a:p>
            <a:endParaRPr/>
          </a:p>
          <a:p>
            <a:r>
              <a:t>依据：gfi_prototype/research/protocol.py；experiments/frozen_20261017/protocol.json；experiments/frozen_20261017/final_heldout_v3/holdout_manifest.json；gfi_prototype/research/pipeline.py</a:t>
            </a:r>
          </a:p>
          <a:p>
            <a:endParaRPr/>
          </a:p>
          <a:p>
            <a:r>
              <a:t>讲述补充：承接案例：单例只能说明运行过程，因此对39个任务逐题运行A/B/C/D，观察增加模块后答案评分如何变化。抽样、开发样例排除、源码身份与固定随机种子均沿用冻结协议。然后说明评价标准，避免直接展示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主答案前四项与未全部语义门控的原始配套指导分开评分。评审先生成有限参考点，再评答案；同系列模型可能存在共同偏差。实验评分来自evidence_adaptive_v2的156份历史答案，不是LangGraph重跑。</a:t>
            </a:r>
          </a:p>
          <a:p>
            <a:endParaRPr/>
          </a:p>
          <a:p>
            <a:r>
              <a:t>依据：judge_experiments.py；experiments/frozen_20261017/final_heldout_v3/model_judge/8d4ee922f2e0f946/model_evaluation.md</a:t>
            </a:r>
          </a:p>
          <a:p>
            <a:endParaRPr/>
          </a:p>
          <a:p>
            <a:r>
              <a:t>讲述补充：评分等级为0严重欠缺、1较差、2一般、3良好、4充分，缺失不按0分。前四项是最终主答案，原始配套指导另计。评审模型为deepseek-v4-pro，同系列模型可能存在共同偏差，无人工Gold。下一页按主要发现、关键数字、资源代价依次解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前三指标领先，B/D不确定性同为3.62。D−C完整性+0.51、可操作性+0.49；相同任务配对D−B可操作性18/15/6，未四舍五入均差12/39。B/C独立生成，不可将C下降全部归因于门控删除。D−B配对bootstrap95%区间约[0.08,0.54]，反映当前模型评分样本波动，非人工正确率。最终运行请求耗时中位数45.719/8.938，Token1903946/489457；D有一份usage不完整，非全部历史成本。</a:t>
            </a:r>
          </a:p>
          <a:p>
            <a:endParaRPr/>
          </a:p>
          <a:p>
            <a:r>
              <a:t>依据：experiments/frozen_20261017/final_heldout_v3/model_judge/8d4ee922f2e0f946/model_evaluation.md；experiments/frozen_20261017/final_heldout_v3/results/*/*.json</a:t>
            </a:r>
          </a:p>
          <a:p>
            <a:endParaRPr/>
          </a:p>
          <a:p>
            <a:r>
              <a:t>讲述补充：原始配套指导评分仍保留：A3.05、B3.69、C3.62、D3.85，单独评价且非全部经过门控。主表16个均分、D−B可操作性+0.31及18胜15平6负均未改动。D对B正确性与完整性均约+0.10，故主结论聚焦可操作性。成本是最终运行内请求耗时中位数约5.1倍、记录Token至少约3.9倍，不是全部历史重跑成本。表明当前模型评分下的相对表现，不等于真实新人收益或人工准确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−B主答案可操作性：Manim1/8=0.125、Dask3/9、napari2/4、Ray6/9、SymPy0/9；表内按十进制四舍五入显示。Ray净增6分，占总净增12分的50%。文档7题0.00、重构3题−0.33，类型来自原冻结标签，样本少，不能外推。6个下降案例中dask#4278和sympy#6698没有补检，3个最终没有暂缓项；部分差异可能涉及核心答案与原始配套步骤的评分范围，不能把下降都归因于补检。这不是独立人工核验或新增效果实验。当前尚未开展等预算对照。</a:t>
            </a:r>
          </a:p>
          <a:p>
            <a:endParaRPr/>
          </a:p>
          <a:p>
            <a:r>
              <a:t>依据：output/研究改进_第1步_39题结果分析.md；output/研究改进_第1步_39题结果分析.json；experiments/frozen_20261017/final_heldout_v3/model_judge/8d4ee922f2e0f946/model_evaluation.json。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资料来源：experiments/frozen_20261017/equal_calls_v1/design.json；evaluation_completed_v1/cohort.json；results/。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资料来源：experiments/frozen_20261017/equal_calls_v1/design.json；evaluation_completed_v1/cohort.json；results/。output/研究改进_第2步_结果分析与PPT结论.json；review_equal_budget_completed.py。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experiments/frontend_case_ray49011_v1/design.json、results/legacy.json与results/frontend.json；output/前端源码单案例验证_分析结论.md；output/源码检索覆盖改进_说明与验证.json。固定源码中LogViewer.tsx第114—122行，E12包含onClick={onRefreshClick}。两配置均重新生成D答案；相同模型、提示、校验和最大轮数，实际轮数和Token不等。没有模型评审或仓库测试。MUI仍属推断，Grafana仅为指标页面参考，时间戳获取位置与任务覆盖范围未确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Manim#4983→#4183的缓存加权Jaccard为11/14=0.785714，共同标签manim,numpy,oop,pytest,python,testing；新增api,ci。标签权重1/2/3来自规则，不是模型临时评分。研究directional推荐另有实现，但未接入门户及完成39题推荐评测。</a:t>
            </a:r>
          </a:p>
          <a:p>
            <a:endParaRPr/>
          </a:p>
          <a:p>
            <a:r>
              <a:t>依据：gfi_prototype/task_matching.py；gfi_prototype/portal.py；recommend_gfi.py；app_core.latest_demo_data当前匹配缓存</a:t>
            </a:r>
          </a:p>
          <a:p>
            <a:endParaRPr/>
          </a:p>
          <a:p>
            <a:r>
              <a:t>讲述补充：在介绍加权Jaccard前先讲直观含义：技术要求重合越多，相似度越高；推荐理由同时说明共同基础和新增知识，帮助用户对照理解。真实缓存11/14和0.785714不变。模型分析并不直接生成成功概率；不进行个人画像匹配。下一页展示这些档案怎样在界面里被阅读和追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截图是已有Manim#4983任务详情，源图未改写文字或伪造交互。页面含AI任务助手入口，SSE流式问答由portal_server.py实现；本页没有运行新的付费问答。原型属于附加成果。</a:t>
            </a:r>
          </a:p>
          <a:p>
            <a:endParaRPr/>
          </a:p>
          <a:p>
            <a:r>
              <a:t>依据：gfi_prototype/portal.py；gfi_prototype/portal_server.py；serve.py；.build/gfi_competition_deck_detailed/review-assets/portal-detail.png</a:t>
            </a:r>
          </a:p>
          <a:p>
            <a:endParaRPr/>
          </a:p>
          <a:p>
            <a:r>
              <a:t>讲述补充：本地演示方式为python serve.py，打开http://127.0.0.1:8503/。127地址不是公开演示链接；公开提交使用实际可访问的仓库或演示入口。当前截图为已有Manim#4983 v2导读，D组研究结果未自动接入门户。现场围绕目标、技术、证据、推荐和追问展示，不必把启动命令作为主叙述。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贡献是选择性门控与缺口补检的组合设计及组件对照。仓库证据解析和任务导航属于能力展示；没有真实新人学习收益、推荐成功率或全量推荐质量结论。已保存实验为原编排版本，后续LangGraph迁移做离线兼容验证。</a:t>
            </a:r>
          </a:p>
          <a:p>
            <a:endParaRPr/>
          </a:p>
          <a:p>
            <a:r>
              <a:t>依据：gfi_prototype/research/pipeline.py；gfi_prototype/research/evidence.py；gfi_prototype/task_matching.py；experiments/frozen_20261017/final_heldout_v3/model_judge/8d4ee922f2e0f946/model_evaluation.md；README.md</a:t>
            </a:r>
          </a:p>
          <a:p>
            <a:endParaRPr/>
          </a:p>
          <a:p>
            <a:r>
              <a:t>讲述补充：回应开头：将任务需求、仓库依据和入手建议连接起来，并解释相关任务推荐。成果数量不变。后续工作包括稳定跟踪跨轮证据缺口、等预算和跨项目验证；使用LangGraph、DeepSeek或既有检索算法不构成首创声明。尚无真实新人学习收益或全量推荐效果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ack"/>
          <p:cNvSpPr>
            <a:spLocks noGrp="1"/>
          </p:cNvSpPr>
          <p:nvPr/>
        </p:nvSpPr>
        <p:spPr>
          <a:xfrm>
            <a:off x="609600" y="647700"/>
            <a:ext cx="109537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B7D6D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科研创新赛道 · 研究方法与可运行原型</a:t>
            </a:r>
          </a:p>
        </p:txBody>
      </p:sp>
      <p:sp>
        <p:nvSpPr>
          <p:cNvPr id="2" name="cover-title"/>
          <p:cNvSpPr>
            <a:spLocks noGrp="1"/>
          </p:cNvSpPr>
          <p:nvPr/>
        </p:nvSpPr>
        <p:spPr>
          <a:xfrm>
            <a:off x="609600" y="1685925"/>
            <a:ext cx="10972800" cy="1809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 dirty="0"/>
              <a:t>基于证据核查与自适应检索的</a:t>
            </a:r>
            <a:endParaRPr lang="en-US" altLang="zh-CN" dirty="0"/>
          </a:p>
          <a:p>
            <a:pPr>
              <a:defRPr sz="3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zh-CN" dirty="0"/>
              <a:t>科研软件 Good First Issue 理解与推荐方法</a:t>
            </a:r>
            <a:endParaRPr sz="39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ver-subtitle"/>
          <p:cNvSpPr>
            <a:spLocks noGrp="1"/>
          </p:cNvSpPr>
          <p:nvPr/>
        </p:nvSpPr>
        <p:spPr>
          <a:xfrm>
            <a:off x="647700" y="3810000"/>
            <a:ext cx="10382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D6E5E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解析任务需求，追溯仓库证据，以缺口驱动补检。</a:t>
            </a:r>
          </a:p>
        </p:txBody>
      </p:sp>
      <p:sp>
        <p:nvSpPr>
          <p:cNvPr id="4" name="school"/>
          <p:cNvSpPr>
            <a:spLocks noGrp="1"/>
          </p:cNvSpPr>
          <p:nvPr/>
        </p:nvSpPr>
        <p:spPr>
          <a:xfrm>
            <a:off x="647700" y="5095875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湖北大学</a:t>
            </a:r>
          </a:p>
        </p:txBody>
      </p:sp>
      <p:sp>
        <p:nvSpPr>
          <p:cNvPr id="5" name="team"/>
          <p:cNvSpPr>
            <a:spLocks noGrp="1"/>
          </p:cNvSpPr>
          <p:nvPr/>
        </p:nvSpPr>
        <p:spPr>
          <a:xfrm>
            <a:off x="647700" y="5600700"/>
            <a:ext cx="104775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C8D9E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张博、李乐乐、胡格菲    ｜    指导教师：崔海波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新人理解 GFI 时遇到什么困难？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definition"/>
          <p:cNvSpPr>
            <a:spLocks noGrp="1"/>
          </p:cNvSpPr>
          <p:nvPr/>
        </p:nvSpPr>
        <p:spPr>
          <a:xfrm>
            <a:off x="609600" y="140017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Good First Issue（GFI）是维护者为新人筛选并标记的入门任务，</a:t>
            </a:r>
          </a:p>
          <a:p>
            <a: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旨在降低参与门槛，帮助新人完成首次开源贡献。</a:t>
            </a:r>
          </a:p>
        </p:txBody>
      </p:sp>
      <p:sp>
        <p:nvSpPr>
          <p:cNvPr id="5" name="question-0"/>
          <p:cNvSpPr>
            <a:spLocks noGrp="1"/>
          </p:cNvSpPr>
          <p:nvPr/>
        </p:nvSpPr>
        <p:spPr>
          <a:xfrm>
            <a:off x="609600" y="24574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</a:t>
            </a:r>
          </a:p>
        </p:txBody>
      </p:sp>
      <p:sp>
        <p:nvSpPr>
          <p:cNvPr id="6" name="question-body-0"/>
          <p:cNvSpPr>
            <a:spLocks noGrp="1"/>
          </p:cNvSpPr>
          <p:nvPr/>
        </p:nvSpPr>
        <p:spPr>
          <a:xfrm>
            <a:off x="2333625" y="2457450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具体要做什么，做到什么程度？</a:t>
            </a:r>
          </a:p>
        </p:txBody>
      </p:sp>
      <p:sp>
        <p:nvSpPr>
          <p:cNvPr id="7" name="question-1"/>
          <p:cNvSpPr>
            <a:spLocks noGrp="1"/>
          </p:cNvSpPr>
          <p:nvPr/>
        </p:nvSpPr>
        <p:spPr>
          <a:xfrm>
            <a:off x="609600" y="30670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项目作用</a:t>
            </a:r>
          </a:p>
        </p:txBody>
      </p:sp>
      <p:sp>
        <p:nvSpPr>
          <p:cNvPr id="8" name="question-body-1"/>
          <p:cNvSpPr>
            <a:spLocks noGrp="1"/>
          </p:cNvSpPr>
          <p:nvPr/>
        </p:nvSpPr>
        <p:spPr>
          <a:xfrm>
            <a:off x="2333625" y="3067050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解决哪个问题，与项目如何关联？</a:t>
            </a:r>
          </a:p>
        </p:txBody>
      </p:sp>
      <p:sp>
        <p:nvSpPr>
          <p:cNvPr id="9" name="question-2"/>
          <p:cNvSpPr>
            <a:spLocks noGrp="1"/>
          </p:cNvSpPr>
          <p:nvPr/>
        </p:nvSpPr>
        <p:spPr>
          <a:xfrm>
            <a:off x="609600" y="36766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技术门槛</a:t>
            </a:r>
          </a:p>
        </p:txBody>
      </p:sp>
      <p:sp>
        <p:nvSpPr>
          <p:cNvPr id="10" name="question-body-2"/>
          <p:cNvSpPr>
            <a:spLocks noGrp="1"/>
          </p:cNvSpPr>
          <p:nvPr/>
        </p:nvSpPr>
        <p:spPr>
          <a:xfrm>
            <a:off x="2333625" y="3676650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需要哪些知识，如何判断自身是否适合？</a:t>
            </a:r>
          </a:p>
        </p:txBody>
      </p:sp>
      <p:sp>
        <p:nvSpPr>
          <p:cNvPr id="11" name="question-3"/>
          <p:cNvSpPr>
            <a:spLocks noGrp="1"/>
          </p:cNvSpPr>
          <p:nvPr/>
        </p:nvSpPr>
        <p:spPr>
          <a:xfrm>
            <a:off x="609600" y="42862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入手路径</a:t>
            </a:r>
          </a:p>
        </p:txBody>
      </p:sp>
      <p:sp>
        <p:nvSpPr>
          <p:cNvPr id="12" name="question-body-3"/>
          <p:cNvSpPr>
            <a:spLocks noGrp="1"/>
          </p:cNvSpPr>
          <p:nvPr/>
        </p:nvSpPr>
        <p:spPr>
          <a:xfrm>
            <a:off x="2333625" y="4286250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先看哪些代码、文档和测试？</a:t>
            </a:r>
          </a:p>
        </p:txBody>
      </p:sp>
      <p:sp>
        <p:nvSpPr>
          <p:cNvPr id="13" name="question-4"/>
          <p:cNvSpPr>
            <a:spLocks noGrp="1"/>
          </p:cNvSpPr>
          <p:nvPr/>
        </p:nvSpPr>
        <p:spPr>
          <a:xfrm>
            <a:off x="609600" y="4895850"/>
            <a:ext cx="1524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相关任务</a:t>
            </a:r>
          </a:p>
        </p:txBody>
      </p:sp>
      <p:sp>
        <p:nvSpPr>
          <p:cNvPr id="14" name="question-body-4"/>
          <p:cNvSpPr>
            <a:spLocks noGrp="1"/>
          </p:cNvSpPr>
          <p:nvPr/>
        </p:nvSpPr>
        <p:spPr>
          <a:xfrm>
            <a:off x="2333625" y="4895850"/>
            <a:ext cx="509587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还有哪些任务可以对照学习？</a:t>
            </a:r>
          </a:p>
        </p:txBody>
      </p:sp>
      <p:sp>
        <p:nvSpPr>
          <p:cNvPr id="15" name="goal-rule"/>
          <p:cNvSpPr>
            <a:spLocks noGrp="1"/>
          </p:cNvSpPr>
          <p:nvPr/>
        </p:nvSpPr>
        <p:spPr>
          <a:xfrm>
            <a:off x="7781925" y="2457450"/>
            <a:ext cx="28575" cy="29527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6" name="goal-label"/>
          <p:cNvSpPr>
            <a:spLocks noGrp="1"/>
          </p:cNvSpPr>
          <p:nvPr/>
        </p:nvSpPr>
        <p:spPr>
          <a:xfrm>
            <a:off x="8191500" y="2495550"/>
            <a:ext cx="333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研究目标</a:t>
            </a:r>
          </a:p>
        </p:txBody>
      </p:sp>
      <p:sp>
        <p:nvSpPr>
          <p:cNvPr id="17" name="goal"/>
          <p:cNvSpPr>
            <a:spLocks noGrp="1"/>
          </p:cNvSpPr>
          <p:nvPr/>
        </p:nvSpPr>
        <p:spPr>
          <a:xfrm>
            <a:off x="8191500" y="3057525"/>
            <a:ext cx="3333750" cy="2247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融合Issue与仓库证据，</a:t>
            </a:r>
          </a:p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解析任务目标、技术要求</a:t>
            </a:r>
          </a:p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和入手路径，解释相关</a:t>
            </a:r>
          </a:p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GFI的推荐依据。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数据收集：五个科研软件项目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repos"/>
          <p:cNvSpPr>
            <a:spLocks noGrp="1"/>
          </p:cNvSpPr>
          <p:nvPr/>
        </p:nvSpPr>
        <p:spPr>
          <a:xfrm>
            <a:off x="609600" y="14097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Manim   /   SymPy   /   Dask   /   Ray   /   napari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133600"/>
          <a:ext cx="10972800" cy="35242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53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数据类别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数量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Issue记录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967条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包含具体任务及汇总、指引资料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其中：具体任务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945条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具有具体问题或改进目标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其中：非任务资料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22条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汇总、跟踪与指引等辅助资料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Issue评论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5,045条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采集留档，未进入本次实验输入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95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时间线事件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17,984条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95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采集留档，未进入本次实验输入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um"/>
          <p:cNvSpPr>
            <a:spLocks noGrp="1"/>
          </p:cNvSpPr>
          <p:nvPr/>
        </p:nvSpPr>
        <p:spPr>
          <a:xfrm>
            <a:off x="609600" y="58674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967 = 945 + 22；原始材料为任务检索与实验抽样提供基础。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箭头连接符 18"/>
          <p:cNvCxnSpPr>
            <a:stCxn id="11" idx="3"/>
            <a:endCxn id="14" idx="1"/>
          </p:cNvCxnSpPr>
          <p:nvPr/>
        </p:nvCxnSpPr>
        <p:spPr>
          <a:xfrm>
            <a:off x="8705850" y="2809875"/>
            <a:ext cx="504825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18" name="直接箭头连接符 17"/>
          <p:cNvCxnSpPr>
            <a:stCxn id="8" idx="3"/>
            <a:endCxn id="11" idx="1"/>
          </p:cNvCxnSpPr>
          <p:nvPr/>
        </p:nvCxnSpPr>
        <p:spPr>
          <a:xfrm>
            <a:off x="5838825" y="2809875"/>
            <a:ext cx="504825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17" name="直接箭头连接符 16"/>
          <p:cNvCxnSpPr>
            <a:stCxn id="5" idx="3"/>
            <a:endCxn id="8" idx="1"/>
          </p:cNvCxnSpPr>
          <p:nvPr/>
        </p:nvCxnSpPr>
        <p:spPr>
          <a:xfrm>
            <a:off x="2971800" y="2809875"/>
            <a:ext cx="504825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sp>
        <p:nvSpPr>
          <p:cNvPr id="23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总体技术路线：研究方法与原型应用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research-label"/>
          <p:cNvSpPr>
            <a:spLocks noGrp="1"/>
          </p:cNvSpPr>
          <p:nvPr/>
        </p:nvSpPr>
        <p:spPr>
          <a:xfrm>
            <a:off x="609600" y="1428750"/>
            <a:ext cx="10477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研究流程：从任务需求形成有依据的解释</a:t>
            </a:r>
          </a:p>
        </p:txBody>
      </p:sp>
      <p:sp>
        <p:nvSpPr>
          <p:cNvPr id="5" name="input"/>
          <p:cNvSpPr>
            <a:spLocks noGrp="1"/>
          </p:cNvSpPr>
          <p:nvPr/>
        </p:nvSpPr>
        <p:spPr>
          <a:xfrm>
            <a:off x="609600" y="2095500"/>
            <a:ext cx="2362200" cy="1428750"/>
          </a:xfrm>
          <a:prstGeom prst="rect">
            <a:avLst/>
          </a:prstGeom>
          <a:solidFill>
            <a:srgbClr val="EDF3FA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6" name="input-title"/>
          <p:cNvSpPr>
            <a:spLocks noGrp="1"/>
          </p:cNvSpPr>
          <p:nvPr/>
        </p:nvSpPr>
        <p:spPr>
          <a:xfrm>
            <a:off x="771525" y="2228850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任务与仓库</a:t>
            </a:r>
          </a:p>
        </p:txBody>
      </p:sp>
      <p:sp>
        <p:nvSpPr>
          <p:cNvPr id="7" name="input-body"/>
          <p:cNvSpPr>
            <a:spLocks noGrp="1"/>
          </p:cNvSpPr>
          <p:nvPr/>
        </p:nvSpPr>
        <p:spPr>
          <a:xfrm>
            <a:off x="771525" y="2676525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Issue＋固定源码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commit与文件哈希</a:t>
            </a:r>
          </a:p>
        </p:txBody>
      </p:sp>
      <p:sp>
        <p:nvSpPr>
          <p:cNvPr id="8" name="packet"/>
          <p:cNvSpPr>
            <a:spLocks noGrp="1"/>
          </p:cNvSpPr>
          <p:nvPr/>
        </p:nvSpPr>
        <p:spPr>
          <a:xfrm>
            <a:off x="3476625" y="2095500"/>
            <a:ext cx="2362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9" name="packet-title"/>
          <p:cNvSpPr>
            <a:spLocks noGrp="1"/>
          </p:cNvSpPr>
          <p:nvPr/>
        </p:nvSpPr>
        <p:spPr>
          <a:xfrm>
            <a:off x="3638550" y="2228850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证据检索</a:t>
            </a:r>
          </a:p>
        </p:txBody>
      </p:sp>
      <p:sp>
        <p:nvSpPr>
          <p:cNvPr id="10" name="packet-body"/>
          <p:cNvSpPr>
            <a:spLocks noGrp="1"/>
          </p:cNvSpPr>
          <p:nvPr/>
        </p:nvSpPr>
        <p:spPr>
          <a:xfrm>
            <a:off x="3638550" y="2676525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代码、测试与文档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带路径和行号的证据</a:t>
            </a:r>
          </a:p>
        </p:txBody>
      </p:sp>
      <p:sp>
        <p:nvSpPr>
          <p:cNvPr id="11" name="agent"/>
          <p:cNvSpPr>
            <a:spLocks noGrp="1"/>
          </p:cNvSpPr>
          <p:nvPr/>
        </p:nvSpPr>
        <p:spPr>
          <a:xfrm>
            <a:off x="6343650" y="2095500"/>
            <a:ext cx="2362200" cy="1428750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2" name="agent-title"/>
          <p:cNvSpPr>
            <a:spLocks noGrp="1"/>
          </p:cNvSpPr>
          <p:nvPr/>
        </p:nvSpPr>
        <p:spPr>
          <a:xfrm>
            <a:off x="6505575" y="2228850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工作流</a:t>
            </a:r>
          </a:p>
        </p:txBody>
      </p:sp>
      <p:sp>
        <p:nvSpPr>
          <p:cNvPr id="13" name="agent-body"/>
          <p:cNvSpPr>
            <a:spLocks noGrp="1"/>
          </p:cNvSpPr>
          <p:nvPr/>
        </p:nvSpPr>
        <p:spPr>
          <a:xfrm>
            <a:off x="6505575" y="2676525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LangGraph 编排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分析、核查与补检</a:t>
            </a:r>
          </a:p>
        </p:txBody>
      </p:sp>
      <p:sp>
        <p:nvSpPr>
          <p:cNvPr id="14" name="research-output"/>
          <p:cNvSpPr>
            <a:spLocks noGrp="1"/>
          </p:cNvSpPr>
          <p:nvPr/>
        </p:nvSpPr>
        <p:spPr>
          <a:xfrm>
            <a:off x="9210675" y="2095500"/>
            <a:ext cx="2362200" cy="1428750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5" name="research-output-title"/>
          <p:cNvSpPr>
            <a:spLocks noGrp="1"/>
          </p:cNvSpPr>
          <p:nvPr/>
        </p:nvSpPr>
        <p:spPr>
          <a:xfrm>
            <a:off x="9372600" y="2228850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任务理解结果</a:t>
            </a:r>
          </a:p>
        </p:txBody>
      </p:sp>
      <p:sp>
        <p:nvSpPr>
          <p:cNvPr id="16" name="research-output-body"/>
          <p:cNvSpPr>
            <a:spLocks noGrp="1"/>
          </p:cNvSpPr>
          <p:nvPr/>
        </p:nvSpPr>
        <p:spPr>
          <a:xfrm>
            <a:off x="9372600" y="2676525"/>
            <a:ext cx="2038350" cy="819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核心结论与引用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未知、逐轮与资源</a:t>
            </a:r>
          </a:p>
        </p:txBody>
      </p:sp>
      <p:sp>
        <p:nvSpPr>
          <p:cNvPr id="20" name="prototype-label"/>
          <p:cNvSpPr>
            <a:spLocks noGrp="1"/>
          </p:cNvSpPr>
          <p:nvPr/>
        </p:nvSpPr>
        <p:spPr>
          <a:xfrm>
            <a:off x="609600" y="4114800"/>
            <a:ext cx="104775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应用展示：把已有档案组织为导读与推荐</a:t>
            </a:r>
          </a:p>
        </p:txBody>
      </p:sp>
      <p:sp>
        <p:nvSpPr>
          <p:cNvPr id="21" name="prototype-flow"/>
          <p:cNvSpPr>
            <a:spLocks noGrp="1"/>
          </p:cNvSpPr>
          <p:nvPr/>
        </p:nvSpPr>
        <p:spPr>
          <a:xfrm>
            <a:off x="609600" y="4714875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50份源码级 v2 导读 → 统一技术标签 → 同项目 GFI 推荐 → 中文门户与对话</a:t>
            </a:r>
          </a:p>
        </p:txBody>
      </p:sp>
      <p:sp>
        <p:nvSpPr>
          <p:cNvPr id="22" name="boundary"/>
          <p:cNvSpPr>
            <a:spLocks noGrp="1"/>
          </p:cNvSpPr>
          <p:nvPr/>
        </p:nvSpPr>
        <p:spPr>
          <a:xfrm>
            <a:off x="609600" y="56007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研究输出独立保存；原型展示已有50份导读。两条链共用检索与分析结构。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证据检索：把相关材料整理为可引用的依据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graphicFrame>
        <p:nvGraphicFramePr>
          <p:cNvPr id="4" name="表格 3"/>
          <p:cNvGraphicFramePr/>
          <p:nvPr/>
        </p:nvGraphicFramePr>
        <p:xfrm>
          <a:off x="609600" y="1600200"/>
          <a:ext cx="6515100" cy="3524250"/>
        </p:xfrm>
        <a:graphic>
          <a:graphicData uri="http://schemas.openxmlformats.org/drawingml/2006/table">
            <a:tbl>
              <a:tblPr/>
              <a:tblGrid>
                <a:gridCol w="171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38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证据类型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来源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分析作用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需求证据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Issue正文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明确问题与预期行为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实现证据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Python源码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定位实现与修改入口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测试证据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测试文件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提供行为约束与验证入口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文档证据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文档、配置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补充接口与环境要求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parameter-0"/>
          <p:cNvSpPr>
            <a:spLocks noGrp="1"/>
          </p:cNvSpPr>
          <p:nvPr/>
        </p:nvSpPr>
        <p:spPr>
          <a:xfrm>
            <a:off x="7620000" y="1581150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保留来源</a:t>
            </a:r>
          </a:p>
        </p:txBody>
      </p:sp>
      <p:sp>
        <p:nvSpPr>
          <p:cNvPr id="6" name="parameter-body-0"/>
          <p:cNvSpPr>
            <a:spLocks noGrp="1"/>
          </p:cNvSpPr>
          <p:nvPr/>
        </p:nvSpPr>
        <p:spPr>
          <a:xfrm>
            <a:off x="7620000" y="200025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标记任务、文件与源码版本</a:t>
            </a:r>
          </a:p>
        </p:txBody>
      </p:sp>
      <p:sp>
        <p:nvSpPr>
          <p:cNvPr id="7" name="parameter-1"/>
          <p:cNvSpPr>
            <a:spLocks noGrp="1"/>
          </p:cNvSpPr>
          <p:nvPr/>
        </p:nvSpPr>
        <p:spPr>
          <a:xfrm>
            <a:off x="7620000" y="2581275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拆分材料</a:t>
            </a:r>
          </a:p>
        </p:txBody>
      </p:sp>
      <p:sp>
        <p:nvSpPr>
          <p:cNvPr id="8" name="parameter-body-1"/>
          <p:cNvSpPr>
            <a:spLocks noGrp="1"/>
          </p:cNvSpPr>
          <p:nvPr/>
        </p:nvSpPr>
        <p:spPr>
          <a:xfrm>
            <a:off x="7620000" y="3000375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将代码与文档整理为重叠片段</a:t>
            </a:r>
          </a:p>
        </p:txBody>
      </p:sp>
      <p:sp>
        <p:nvSpPr>
          <p:cNvPr id="9" name="parameter-2"/>
          <p:cNvSpPr>
            <a:spLocks noGrp="1"/>
          </p:cNvSpPr>
          <p:nvPr/>
        </p:nvSpPr>
        <p:spPr>
          <a:xfrm>
            <a:off x="7620000" y="3581400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按需检索</a:t>
            </a:r>
          </a:p>
        </p:txBody>
      </p:sp>
      <p:sp>
        <p:nvSpPr>
          <p:cNvPr id="10" name="parameter-body-2"/>
          <p:cNvSpPr>
            <a:spLocks noGrp="1"/>
          </p:cNvSpPr>
          <p:nvPr/>
        </p:nvSpPr>
        <p:spPr>
          <a:xfrm>
            <a:off x="7620000" y="4000500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用全文检索选取相关代码和测试</a:t>
            </a:r>
          </a:p>
        </p:txBody>
      </p:sp>
      <p:sp>
        <p:nvSpPr>
          <p:cNvPr id="11" name="parameter-3"/>
          <p:cNvSpPr>
            <a:spLocks noGrp="1"/>
          </p:cNvSpPr>
          <p:nvPr/>
        </p:nvSpPr>
        <p:spPr>
          <a:xfrm>
            <a:off x="7620000" y="4581525"/>
            <a:ext cx="39624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组织证据</a:t>
            </a:r>
          </a:p>
        </p:txBody>
      </p:sp>
      <p:sp>
        <p:nvSpPr>
          <p:cNvPr id="12" name="parameter-body-3"/>
          <p:cNvSpPr>
            <a:spLocks noGrp="1"/>
          </p:cNvSpPr>
          <p:nvPr/>
        </p:nvSpPr>
        <p:spPr>
          <a:xfrm>
            <a:off x="7620000" y="5000625"/>
            <a:ext cx="39624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将需求、片段与来源一起提供给模型</a:t>
            </a:r>
          </a:p>
        </p:txBody>
      </p:sp>
      <p:sp>
        <p:nvSpPr>
          <p:cNvPr id="13" name="packet-format"/>
          <p:cNvSpPr>
            <a:spLocks noGrp="1"/>
          </p:cNvSpPr>
          <p:nvPr/>
        </p:nvSpPr>
        <p:spPr>
          <a:xfrm>
            <a:off x="609600" y="5524500"/>
            <a:ext cx="108204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证据包＝任务需求＋相关仓库片段＋可追溯来源</a:t>
            </a:r>
          </a:p>
        </p:txBody>
      </p:sp>
      <p:sp>
        <p:nvSpPr>
          <p:cNvPr id="14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找到相关片段后，下一步判断：这些材料是否真正支持分析结论？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肘形连接符 29"/>
          <p:cNvCxnSpPr>
            <a:stCxn id="25" idx="3"/>
            <a:endCxn id="14" idx="2"/>
          </p:cNvCxnSpPr>
          <p:nvPr/>
        </p:nvCxnSpPr>
        <p:spPr>
          <a:xfrm flipV="1">
            <a:off x="8705850" y="3524250"/>
            <a:ext cx="1685925" cy="1509713"/>
          </a:xfrm>
          <a:prstGeom prst="bentConnector2">
            <a:avLst/>
          </a:prstGeom>
          <a:ln w="20955">
            <a:solidFill>
              <a:srgbClr val="53677B"/>
            </a:solidFill>
            <a:prstDash val="solid"/>
            <a:tailEnd type="triangle" w="sm" len="sm"/>
          </a:ln>
        </p:spPr>
      </p:cxnSp>
      <p:cxnSp>
        <p:nvCxnSpPr>
          <p:cNvPr id="29" name="肘形连接符 28"/>
          <p:cNvCxnSpPr>
            <a:stCxn id="25" idx="1"/>
            <a:endCxn id="5" idx="2"/>
          </p:cNvCxnSpPr>
          <p:nvPr/>
        </p:nvCxnSpPr>
        <p:spPr>
          <a:xfrm flipH="1" flipV="1">
            <a:off x="1790700" y="3524250"/>
            <a:ext cx="1685925" cy="1509713"/>
          </a:xfrm>
          <a:prstGeom prst="bentConnector2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28" name="肘形连接符 27"/>
          <p:cNvCxnSpPr>
            <a:stCxn id="11" idx="2"/>
            <a:endCxn id="25" idx="0"/>
          </p:cNvCxnSpPr>
          <p:nvPr/>
        </p:nvCxnSpPr>
        <p:spPr>
          <a:xfrm flipH="1">
            <a:off x="6091238" y="3524250"/>
            <a:ext cx="1433513" cy="952500"/>
          </a:xfrm>
          <a:prstGeom prst="bentConnector4">
            <a:avLst>
              <a:gd name="adj1" fmla="val 0"/>
              <a:gd name="adj2" fmla="val 50000"/>
            </a:avLst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23" name="直接箭头连接符 22"/>
          <p:cNvCxnSpPr>
            <a:stCxn id="11" idx="3"/>
            <a:endCxn id="14" idx="1"/>
          </p:cNvCxnSpPr>
          <p:nvPr/>
        </p:nvCxnSpPr>
        <p:spPr>
          <a:xfrm>
            <a:off x="8705850" y="2871788"/>
            <a:ext cx="504825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22" name="直接箭头连接符 21"/>
          <p:cNvCxnSpPr>
            <a:stCxn id="8" idx="3"/>
            <a:endCxn id="11" idx="1"/>
          </p:cNvCxnSpPr>
          <p:nvPr/>
        </p:nvCxnSpPr>
        <p:spPr>
          <a:xfrm>
            <a:off x="5838825" y="2871788"/>
            <a:ext cx="504825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21" name="直接箭头连接符 20"/>
          <p:cNvCxnSpPr>
            <a:stCxn id="5" idx="3"/>
            <a:endCxn id="8" idx="1"/>
          </p:cNvCxnSpPr>
          <p:nvPr/>
        </p:nvCxnSpPr>
        <p:spPr>
          <a:xfrm>
            <a:off x="2971800" y="2871788"/>
            <a:ext cx="504825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sp>
        <p:nvSpPr>
          <p:cNvPr id="36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 LangGraph 的证据驱动 Agent 工作流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framework"/>
          <p:cNvSpPr>
            <a:spLocks noGrp="1"/>
          </p:cNvSpPr>
          <p:nvPr/>
        </p:nvSpPr>
        <p:spPr>
          <a:xfrm>
            <a:off x="609600" y="1390650"/>
            <a:ext cx="1097280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先分析任务，再核查依据；结论有缺口时，补检后重新分析。</a:t>
            </a:r>
          </a:p>
        </p:txBody>
      </p:sp>
      <p:sp>
        <p:nvSpPr>
          <p:cNvPr id="5" name="analyze"/>
          <p:cNvSpPr>
            <a:spLocks noGrp="1"/>
          </p:cNvSpPr>
          <p:nvPr/>
        </p:nvSpPr>
        <p:spPr>
          <a:xfrm>
            <a:off x="609600" y="2219325"/>
            <a:ext cx="2362200" cy="13049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6" name="analyze-title"/>
          <p:cNvSpPr>
            <a:spLocks noGrp="1"/>
          </p:cNvSpPr>
          <p:nvPr/>
        </p:nvSpPr>
        <p:spPr>
          <a:xfrm>
            <a:off x="771525" y="2352675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任务分析</a:t>
            </a:r>
          </a:p>
        </p:txBody>
      </p:sp>
      <p:sp>
        <p:nvSpPr>
          <p:cNvPr id="7" name="analyze-body"/>
          <p:cNvSpPr>
            <a:spLocks noGrp="1"/>
          </p:cNvSpPr>
          <p:nvPr/>
        </p:nvSpPr>
        <p:spPr>
          <a:xfrm>
            <a:off x="771525" y="2800350"/>
            <a:ext cx="20383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任务目标与所需基础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入手建议与证据引用</a:t>
            </a:r>
          </a:p>
        </p:txBody>
      </p:sp>
      <p:sp>
        <p:nvSpPr>
          <p:cNvPr id="8" name="audit"/>
          <p:cNvSpPr>
            <a:spLocks noGrp="1"/>
          </p:cNvSpPr>
          <p:nvPr/>
        </p:nvSpPr>
        <p:spPr>
          <a:xfrm>
            <a:off x="3476625" y="2219325"/>
            <a:ext cx="2362200" cy="13049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9" name="audit-title"/>
          <p:cNvSpPr>
            <a:spLocks noGrp="1"/>
          </p:cNvSpPr>
          <p:nvPr/>
        </p:nvSpPr>
        <p:spPr>
          <a:xfrm>
            <a:off x="3638550" y="2352675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证据核查</a:t>
            </a:r>
          </a:p>
        </p:txBody>
      </p:sp>
      <p:sp>
        <p:nvSpPr>
          <p:cNvPr id="10" name="audit-body"/>
          <p:cNvSpPr>
            <a:spLocks noGrp="1"/>
          </p:cNvSpPr>
          <p:nvPr/>
        </p:nvSpPr>
        <p:spPr>
          <a:xfrm>
            <a:off x="3638550" y="2800350"/>
            <a:ext cx="20383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逐条核查核心结论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识别缺口与检索词</a:t>
            </a:r>
          </a:p>
        </p:txBody>
      </p:sp>
      <p:sp>
        <p:nvSpPr>
          <p:cNvPr id="11" name="gate"/>
          <p:cNvSpPr>
            <a:spLocks noGrp="1"/>
          </p:cNvSpPr>
          <p:nvPr/>
        </p:nvSpPr>
        <p:spPr>
          <a:xfrm>
            <a:off x="6343650" y="2219325"/>
            <a:ext cx="2362200" cy="1304925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2" name="gate-title"/>
          <p:cNvSpPr>
            <a:spLocks noGrp="1"/>
          </p:cNvSpPr>
          <p:nvPr/>
        </p:nvSpPr>
        <p:spPr>
          <a:xfrm>
            <a:off x="6505575" y="2352675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结论门控</a:t>
            </a:r>
          </a:p>
        </p:txBody>
      </p:sp>
      <p:sp>
        <p:nvSpPr>
          <p:cNvPr id="13" name="gate-body"/>
          <p:cNvSpPr>
            <a:spLocks noGrp="1"/>
          </p:cNvSpPr>
          <p:nvPr/>
        </p:nvSpPr>
        <p:spPr>
          <a:xfrm>
            <a:off x="6505575" y="2800350"/>
            <a:ext cx="20383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有依据的结论保留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依据不足则暂缓</a:t>
            </a:r>
          </a:p>
        </p:txBody>
      </p:sp>
      <p:sp>
        <p:nvSpPr>
          <p:cNvPr id="14" name="finalize"/>
          <p:cNvSpPr>
            <a:spLocks noGrp="1"/>
          </p:cNvSpPr>
          <p:nvPr/>
        </p:nvSpPr>
        <p:spPr>
          <a:xfrm>
            <a:off x="9210675" y="2219325"/>
            <a:ext cx="2362200" cy="1304925"/>
          </a:xfrm>
          <a:prstGeom prst="rect">
            <a:avLst/>
          </a:prstGeom>
          <a:solidFill>
            <a:srgbClr val="142A40"/>
          </a:solidFill>
          <a:ln w="9525">
            <a:solidFill>
              <a:srgbClr val="142A40"/>
            </a:solidFill>
            <a:prstDash val="solid"/>
          </a:ln>
        </p:spPr>
      </p:sp>
      <p:sp>
        <p:nvSpPr>
          <p:cNvPr id="15" name="finalize-title"/>
          <p:cNvSpPr>
            <a:spLocks noGrp="1"/>
          </p:cNvSpPr>
          <p:nvPr/>
        </p:nvSpPr>
        <p:spPr>
          <a:xfrm>
            <a:off x="9372600" y="2352675"/>
            <a:ext cx="20383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结果输出</a:t>
            </a:r>
          </a:p>
        </p:txBody>
      </p:sp>
      <p:sp>
        <p:nvSpPr>
          <p:cNvPr id="16" name="finalize-body"/>
          <p:cNvSpPr>
            <a:spLocks noGrp="1"/>
          </p:cNvSpPr>
          <p:nvPr/>
        </p:nvSpPr>
        <p:spPr>
          <a:xfrm>
            <a:off x="9372600" y="2800350"/>
            <a:ext cx="20383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最后完整轮结果</a:t>
            </a:r>
          </a:p>
          <a:p>
            <a:pPr algn="l">
              <a:buNone/>
              <a:def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CEE3E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证据与停止原因</a:t>
            </a:r>
          </a:p>
        </p:txBody>
      </p:sp>
      <p:sp>
        <p:nvSpPr>
          <p:cNvPr id="17" name="analyze-code"/>
          <p:cNvSpPr>
            <a:spLocks noGrp="1"/>
          </p:cNvSpPr>
          <p:nvPr/>
        </p:nvSpPr>
        <p:spPr>
          <a:xfrm>
            <a:off x="609600" y="1943100"/>
            <a:ext cx="2362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analyze</a:t>
            </a:r>
          </a:p>
        </p:txBody>
      </p:sp>
      <p:sp>
        <p:nvSpPr>
          <p:cNvPr id="18" name="audit-code"/>
          <p:cNvSpPr>
            <a:spLocks noGrp="1"/>
          </p:cNvSpPr>
          <p:nvPr/>
        </p:nvSpPr>
        <p:spPr>
          <a:xfrm>
            <a:off x="3476625" y="1943100"/>
            <a:ext cx="2362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audit</a:t>
            </a:r>
          </a:p>
        </p:txBody>
      </p:sp>
      <p:sp>
        <p:nvSpPr>
          <p:cNvPr id="19" name="gate-code"/>
          <p:cNvSpPr>
            <a:spLocks noGrp="1"/>
          </p:cNvSpPr>
          <p:nvPr/>
        </p:nvSpPr>
        <p:spPr>
          <a:xfrm>
            <a:off x="6343650" y="1943100"/>
            <a:ext cx="2362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gate</a:t>
            </a:r>
          </a:p>
        </p:txBody>
      </p:sp>
      <p:sp>
        <p:nvSpPr>
          <p:cNvPr id="20" name="finalize-code"/>
          <p:cNvSpPr>
            <a:spLocks noGrp="1"/>
          </p:cNvSpPr>
          <p:nvPr/>
        </p:nvSpPr>
        <p:spPr>
          <a:xfrm>
            <a:off x="9210675" y="1943100"/>
            <a:ext cx="236220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finalize</a:t>
            </a:r>
          </a:p>
        </p:txBody>
      </p:sp>
      <p:sp>
        <p:nvSpPr>
          <p:cNvPr id="24" name="stop-label"/>
          <p:cNvSpPr>
            <a:spLocks noGrp="1"/>
          </p:cNvSpPr>
          <p:nvPr/>
        </p:nvSpPr>
        <p:spPr>
          <a:xfrm>
            <a:off x="8753475" y="186690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buNone/>
              <a:def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停止</a:t>
            </a:r>
          </a:p>
        </p:txBody>
      </p:sp>
      <p:sp>
        <p:nvSpPr>
          <p:cNvPr id="25" name="supplement"/>
          <p:cNvSpPr>
            <a:spLocks noGrp="1"/>
          </p:cNvSpPr>
          <p:nvPr/>
        </p:nvSpPr>
        <p:spPr>
          <a:xfrm>
            <a:off x="3476625" y="4476750"/>
            <a:ext cx="5229225" cy="1114425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26" name="supplement-title"/>
          <p:cNvSpPr>
            <a:spLocks noGrp="1"/>
          </p:cNvSpPr>
          <p:nvPr/>
        </p:nvSpPr>
        <p:spPr>
          <a:xfrm>
            <a:off x="3638550" y="4610100"/>
            <a:ext cx="490537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证据补检 · supplement</a:t>
            </a:r>
          </a:p>
        </p:txBody>
      </p:sp>
      <p:sp>
        <p:nvSpPr>
          <p:cNvPr id="27" name="supplement-body"/>
          <p:cNvSpPr>
            <a:spLocks noGrp="1"/>
          </p:cNvSpPr>
          <p:nvPr/>
        </p:nvSpPr>
        <p:spPr>
          <a:xfrm>
            <a:off x="3638550" y="5057775"/>
            <a:ext cx="4905375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按缺口检索、去重与来源核验，更新证据包</a:t>
            </a:r>
          </a:p>
        </p:txBody>
      </p:sp>
      <p:sp>
        <p:nvSpPr>
          <p:cNvPr id="31" name="loop-label"/>
          <p:cNvSpPr>
            <a:spLocks noGrp="1"/>
          </p:cNvSpPr>
          <p:nvPr/>
        </p:nvSpPr>
        <p:spPr>
          <a:xfrm>
            <a:off x="2095500" y="3943350"/>
            <a:ext cx="314325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新证据 → 重新分析</a:t>
            </a:r>
          </a:p>
        </p:txBody>
      </p:sp>
      <p:sp>
        <p:nvSpPr>
          <p:cNvPr id="32" name="decision"/>
          <p:cNvSpPr>
            <a:spLocks noGrp="1"/>
          </p:cNvSpPr>
          <p:nvPr/>
        </p:nvSpPr>
        <p:spPr>
          <a:xfrm>
            <a:off x="7810500" y="373380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有缺口，且允许继续补检</a:t>
            </a:r>
          </a:p>
        </p:txBody>
      </p:sp>
      <p:sp>
        <p:nvSpPr>
          <p:cNvPr id="33" name="empty-stop"/>
          <p:cNvSpPr>
            <a:spLocks noGrp="1"/>
          </p:cNvSpPr>
          <p:nvPr/>
        </p:nvSpPr>
        <p:spPr>
          <a:xfrm>
            <a:off x="9020175" y="5200650"/>
            <a:ext cx="2543175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无新证据／检索失败</a:t>
            </a:r>
          </a:p>
          <a:p>
            <a: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返回最后完整轮</a:t>
            </a:r>
          </a:p>
        </p:txBody>
      </p:sp>
      <p:sp>
        <p:nvSpPr>
          <p:cNvPr id="34" name="limits"/>
          <p:cNvSpPr>
            <a:spLocks noGrp="1"/>
          </p:cNvSpPr>
          <p:nvPr/>
        </p:nvSpPr>
        <p:spPr>
          <a:xfrm>
            <a:off x="609600" y="58007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有依据的结论保留，证据缺口触发补检；最多补检2轮。</a:t>
            </a:r>
          </a:p>
        </p:txBody>
      </p:sp>
      <p:sp>
        <p:nvSpPr>
          <p:cNvPr id="35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LangGraph编排流程；LangChain接入DeepSeek Flash，承担任务分析与证据核查两个角色。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>
            <a:spLocks noGrp="1"/>
          </p:cNvSpPr>
          <p:nvPr/>
        </p:nvSpPr>
        <p:spPr>
          <a:xfrm>
            <a:off x="571500" y="36195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真实案例：Ray API文档的源码链接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3822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Ray #3269：希望API文档提供可跳转到对应源码的“source”链接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2198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该例可操作性R=2、S=3、D=3，D与S持平，仅作流程示例。未实际构建文档或验证链接。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2257425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190625" y="2257425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发现缺口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190625" y="260032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缺少源码链接生成机制的直接依据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3476625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190625" y="3476625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补检证据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190625" y="381952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定位conf.py中已启用的viewcode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71500" y="4695825"/>
            <a:ext cx="523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90625" y="4695825"/>
            <a:ext cx="4191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更新建议</a:t>
            </a: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190625" y="5038725"/>
            <a:ext cx="4476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先核实现有API覆盖范围，再决定修改</a:t>
            </a: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6334125" y="1714500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补检得到的直接证据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334125" y="2247900"/>
            <a:ext cx="5095875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doc/source/conf.py  第66行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334125" y="2628900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"sphinx.ext.viewcode",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334125" y="3114675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源码链接功能已启用</a:t>
            </a: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6334125" y="3524250"/>
            <a:ext cx="5095875" cy="609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为API文档提供查看源码的链接。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应先检查哪些页面尚未覆盖。</a:t>
            </a: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334125" y="4333875"/>
            <a:ext cx="5095875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.readthedocs.yaml  第136行</a:t>
            </a: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334125" y="4676775"/>
            <a:ext cx="5095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fail_on_warning: true</a:t>
            </a: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6334125" y="5143500"/>
            <a:ext cx="509587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出现警告会使文档构建失败</a:t>
            </a: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334125" y="5534025"/>
            <a:ext cx="5095875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修改后需检查文档能否正常构建，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是否引入新的警告。</a:t>
            </a: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190625" y="5534025"/>
            <a:ext cx="452437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找到已有功能与验证要求</a:t>
            </a:r>
          </a:p>
          <a:p>
            <a: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覆盖范围和剩余工作量仍待核实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实验设计：逐步加入检索、核查与补检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sample"/>
          <p:cNvSpPr>
            <a:spLocks noGrp="1"/>
          </p:cNvSpPr>
          <p:nvPr/>
        </p:nvSpPr>
        <p:spPr>
          <a:xfrm>
            <a:off x="609600" y="1428750"/>
            <a:ext cx="109728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分层抽样冻结45题 − 6个试点／开发样例 = 39个正式评测任务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152650"/>
          <a:ext cx="10972800" cy="3209925"/>
        </p:xfrm>
        <a:graphic>
          <a:graphicData uri="http://schemas.openxmlformats.org/drawingml/2006/table">
            <a:tbl>
              <a:tblPr/>
              <a:tblGrid>
                <a:gridCol w="2238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4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组别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输入与处理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检验的模块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A：仅Issue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仅阅读Issue，直接分析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基础任务理解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B：固定检索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Issue＋首次检索的仓库片段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加入仓库证据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C：核查与门控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固定检索＋核心结论核查、门控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增加证据约束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198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D：自适应补检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C流程＋按缺口补检、重新分析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完整闭环的收益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quotas"/>
          <p:cNvSpPr>
            <a:spLocks noGrp="1"/>
          </p:cNvSpPr>
          <p:nvPr/>
        </p:nvSpPr>
        <p:spPr>
          <a:xfrm>
            <a:off x="609600" y="56578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Manim 8  /  SymPy 9  /  Dask 9  /  Ray 9  /  napari 4  →  156份答案</a:t>
            </a:r>
          </a:p>
        </p:txBody>
      </p:sp>
      <p:sp>
        <p:nvSpPr>
          <p:cNvPr id="7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每个任务运行四种流程，配对比较各模块的变化；四组分别生成，非等预算对照。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评价方法：同一标准评分，同一任务比较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judge"/>
          <p:cNvSpPr>
            <a:spLocks noGrp="1"/>
          </p:cNvSpPr>
          <p:nvPr/>
        </p:nvSpPr>
        <p:spPr>
          <a:xfrm>
            <a:off x="609600" y="1390650"/>
            <a:ext cx="1097280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隐藏组别，由 DeepSeek Pro 依据同一任务的共同证据进行0—4级评分。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085975"/>
          <a:ext cx="10972800" cy="3124200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评价指标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评价内容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正确性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解释是否符合Issue需求与仓库证据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是否覆盖关键目标、技术要求与验收内容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主答案可操作性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最终核心内容能否帮助明确下一步行动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不确定性表达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是否区分事实、推断和仍待确认的问题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7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原始入手指导性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原始配套步骤与文件、测试建议单独评分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compute"/>
          <p:cNvSpPr>
            <a:spLocks noGrp="1"/>
          </p:cNvSpPr>
          <p:nvPr/>
        </p:nvSpPr>
        <p:spPr>
          <a:xfrm>
            <a:off x="609600" y="5467350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均分＝总分÷有效题数；提升＝同题分差平均值；逐题统计胜／平／负。</a:t>
            </a:r>
          </a:p>
        </p:txBody>
      </p:sp>
      <p:sp>
        <p:nvSpPr>
          <p:cNvPr id="7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评分0—4；无法评价记缺失。模型辅助评价，不等于人工标准答案或真实准确率。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实验结果：D组的可操作性评分更高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result-scope"/>
          <p:cNvSpPr>
            <a:spLocks noGrp="1"/>
          </p:cNvSpPr>
          <p:nvPr/>
        </p:nvSpPr>
        <p:spPr>
          <a:xfrm>
            <a:off x="609600" y="14001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39个独立任务，156份答案；模型评分均值（0—4）。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609600" y="2085975"/>
          <a:ext cx="7429500" cy="30480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组别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正确性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完整性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可操作性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不确定性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A：仅Issue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3.41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2.54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2.23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3.49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B：固定检索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3.46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3.03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2.62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3.62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C：核查门控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3.18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2.62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2.44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3.13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D：自适应补检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3.56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3.13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2.92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3.62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gain-label"/>
          <p:cNvSpPr>
            <a:spLocks noGrp="1"/>
          </p:cNvSpPr>
          <p:nvPr/>
        </p:nvSpPr>
        <p:spPr>
          <a:xfrm>
            <a:off x="8496300" y="2114550"/>
            <a:ext cx="30861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关键提升 · D相对B</a:t>
            </a:r>
          </a:p>
        </p:txBody>
      </p:sp>
      <p:sp>
        <p:nvSpPr>
          <p:cNvPr id="7" name="gain"/>
          <p:cNvSpPr>
            <a:spLocks noGrp="1"/>
          </p:cNvSpPr>
          <p:nvPr/>
        </p:nvSpPr>
        <p:spPr>
          <a:xfrm>
            <a:off x="8496300" y="2581275"/>
            <a:ext cx="30861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75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+0.31分</a:t>
            </a:r>
          </a:p>
        </p:txBody>
      </p:sp>
      <p:sp>
        <p:nvSpPr>
          <p:cNvPr id="8" name="wins"/>
          <p:cNvSpPr>
            <a:spLocks noGrp="1"/>
          </p:cNvSpPr>
          <p:nvPr/>
        </p:nvSpPr>
        <p:spPr>
          <a:xfrm>
            <a:off x="8496300" y="3505200"/>
            <a:ext cx="3086100" cy="981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18题提高</a:t>
            </a:r>
          </a:p>
          <a:p>
            <a:pPr algn="l">
              <a:buNone/>
              <a:def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15题持平 · 6题下降</a:t>
            </a:r>
          </a:p>
        </p:txBody>
      </p:sp>
      <p:sp>
        <p:nvSpPr>
          <p:cNvPr id="9" name="best"/>
          <p:cNvSpPr>
            <a:spLocks noGrp="1"/>
          </p:cNvSpPr>
          <p:nvPr/>
        </p:nvSpPr>
        <p:spPr>
          <a:xfrm>
            <a:off x="8496300" y="4600575"/>
            <a:ext cx="30861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前三项均分最高；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不确定性与B持平。</a:t>
            </a:r>
          </a:p>
        </p:txBody>
      </p:sp>
      <p:sp>
        <p:nvSpPr>
          <p:cNvPr id="10" name="cost"/>
          <p:cNvSpPr>
            <a:spLocks noGrp="1"/>
          </p:cNvSpPr>
          <p:nvPr/>
        </p:nvSpPr>
        <p:spPr>
          <a:xfrm>
            <a:off x="609600" y="5810250"/>
            <a:ext cx="1097280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A965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资源：请求耗时中位数约5.1倍；已记录Token至少约3.9倍（D/B）。</a:t>
            </a:r>
          </a:p>
        </p:txBody>
      </p:sp>
      <p:sp>
        <p:nvSpPr>
          <p:cNvPr id="11" name="extra"/>
          <p:cNvSpPr>
            <a:spLocks noGrp="1"/>
          </p:cNvSpPr>
          <p:nvPr/>
        </p:nvSpPr>
        <p:spPr>
          <a:xfrm>
            <a:off x="609600" y="5391150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6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观察：D组在可操作性上的提升比正确性、完整性的提升更明显。</a:t>
            </a:r>
          </a:p>
        </p:txBody>
      </p:sp>
      <p:sp>
        <p:nvSpPr>
          <p:cNvPr id="12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本页156份答案来自原Python编排；现工程采用LangGraph，调用匹配实验另见后页。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细分结论：D组有帮助，但收益并不均匀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</a:ln>
        </p:spPr>
      </p:sp>
      <p:sp>
        <p:nvSpPr>
          <p:cNvPr id="3" name="scope"/>
          <p:cNvSpPr>
            <a:spLocks noGrp="1"/>
          </p:cNvSpPr>
          <p:nvPr/>
        </p:nvSpPr>
        <p:spPr>
          <a:xfrm>
            <a:off x="609600" y="1400175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同题D−B可操作性：39题中18题提高、15题持平、6题下降。</a:t>
            </a:r>
          </a:p>
        </p:txBody>
      </p:sp>
      <p:graphicFrame>
        <p:nvGraphicFramePr>
          <p:cNvPr id="4" name="表格 3"/>
          <p:cNvGraphicFramePr/>
          <p:nvPr/>
        </p:nvGraphicFramePr>
        <p:xfrm>
          <a:off x="609600" y="2095500"/>
          <a:ext cx="5429250" cy="34290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4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题数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提升分数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胜／平／负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142A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Manim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+0.13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2/5/1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Dask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+0.33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4/4/1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6F8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napari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+0.50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2/2/0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Ray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+0.67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7/1/1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8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SymPy</a:t>
                      </a:r>
                    </a:p>
                  </a:txBody>
                  <a:tcPr marL="114300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9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+0.00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3/3/3</a:t>
                      </a:r>
                    </a:p>
                  </a:txBody>
                  <a:tcPr marL="114300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benefit-title"/>
          <p:cNvSpPr>
            <a:spLocks noGrp="1"/>
          </p:cNvSpPr>
          <p:nvPr/>
        </p:nvSpPr>
        <p:spPr>
          <a:xfrm>
            <a:off x="6572250" y="2095500"/>
            <a:ext cx="5010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提升集中在部分任务</a:t>
            </a:r>
          </a:p>
        </p:txBody>
      </p:sp>
      <p:sp>
        <p:nvSpPr>
          <p:cNvPr id="6" name="benefit-body"/>
          <p:cNvSpPr>
            <a:spLocks noGrp="1"/>
          </p:cNvSpPr>
          <p:nvPr/>
        </p:nvSpPr>
        <p:spPr>
          <a:xfrm>
            <a:off x="6572250" y="2524125"/>
            <a:ext cx="5010150" cy="800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Ray贡献一半净增分，SymPy持平；</a:t>
            </a:r>
          </a:p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文档类持平，重构类略降（3题）。</a:t>
            </a:r>
          </a:p>
        </p:txBody>
      </p:sp>
      <p:sp>
        <p:nvSpPr>
          <p:cNvPr id="7" name="evidence-title"/>
          <p:cNvSpPr>
            <a:spLocks noGrp="1"/>
          </p:cNvSpPr>
          <p:nvPr/>
        </p:nvSpPr>
        <p:spPr>
          <a:xfrm>
            <a:off x="6572250" y="3486150"/>
            <a:ext cx="5010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补检也可能缺少关键证据</a:t>
            </a:r>
          </a:p>
        </p:txBody>
      </p:sp>
      <p:sp>
        <p:nvSpPr>
          <p:cNvPr id="8" name="evidence-body"/>
          <p:cNvSpPr>
            <a:spLocks noGrp="1"/>
          </p:cNvSpPr>
          <p:nvPr/>
        </p:nvSpPr>
        <p:spPr>
          <a:xfrm>
            <a:off x="6572250" y="3914775"/>
            <a:ext cx="50101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补检两轮后，部分任务仍缺少</a:t>
            </a:r>
          </a:p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关键测试或兼容条件的依据。</a:t>
            </a:r>
          </a:p>
        </p:txBody>
      </p:sp>
      <p:sp>
        <p:nvSpPr>
          <p:cNvPr id="9" name="failure-title"/>
          <p:cNvSpPr>
            <a:spLocks noGrp="1"/>
          </p:cNvSpPr>
          <p:nvPr/>
        </p:nvSpPr>
        <p:spPr>
          <a:xfrm>
            <a:off x="6572250" y="4676775"/>
            <a:ext cx="50101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下降不全是补检造成的</a:t>
            </a:r>
          </a:p>
        </p:txBody>
      </p:sp>
      <p:sp>
        <p:nvSpPr>
          <p:cNvPr id="10" name="failure-body"/>
          <p:cNvSpPr>
            <a:spLocks noGrp="1"/>
          </p:cNvSpPr>
          <p:nvPr/>
        </p:nvSpPr>
        <p:spPr>
          <a:xfrm>
            <a:off x="6572250" y="5095875"/>
            <a:ext cx="50101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6个下降案例中，2个没有补检；</a:t>
            </a:r>
          </a:p>
          <a:p>
            <a:pPr algn="l">
              <a:buNone/>
              <a:def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部分操作步骤仍保留在配套指导里。</a:t>
            </a:r>
          </a:p>
        </p:txBody>
      </p:sp>
      <p:sp>
        <p:nvSpPr>
          <p:cNvPr id="11" name="takeaway"/>
          <p:cNvSpPr>
            <a:spLocks noGrp="1"/>
          </p:cNvSpPr>
          <p:nvPr/>
        </p:nvSpPr>
        <p:spPr>
          <a:xfrm>
            <a:off x="609600" y="5829300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调用轮数匹配对照已完成，结果见后页；实际Token另计，非严格等Token。</a:t>
            </a:r>
          </a:p>
        </p:txBody>
      </p:sp>
      <p:sp>
        <p:nvSpPr>
          <p:cNvPr id="12" name="footnote"/>
          <p:cNvSpPr>
            <a:spLocks noGrp="1"/>
          </p:cNvSpPr>
          <p:nvPr/>
        </p:nvSpPr>
        <p:spPr>
          <a:xfrm>
            <a:off x="609600" y="6210300"/>
            <a:ext cx="10287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基于39题既有模型评分的事后细分；小样本类型仅作观察，不代表普遍效果。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Grp="1"/>
          </p:cNvSpPr>
          <p:nvPr/>
        </p:nvSpPr>
        <p:spPr>
          <a:xfrm>
            <a:off x="571500" y="36195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调用轮数匹配的对照实验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3822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区分缺口驱动补检的作用，与增加模型调用带来的作用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2198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5题在D阶段因引用校验失败而中断。相同调用次数不等于相同Token消耗。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71500" y="1685925"/>
            <a:ext cx="11049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沿用原39题，完成34题，共102份对照答案</a:t>
            </a:r>
          </a:p>
        </p:txBody>
      </p:sp>
      <p:graphicFrame>
        <p:nvGraphicFramePr>
          <p:cNvPr id="6" name="表格 5"/>
          <p:cNvGraphicFramePr/>
          <p:nvPr/>
        </p:nvGraphicFramePr>
        <p:xfrm>
          <a:off x="571500" y="2266950"/>
          <a:ext cx="11049000" cy="2447925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9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条件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证据策略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后续处理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  固定证据修订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保持初始证据不变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根据旧分析与核查反馈修改答案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  固定查询扩展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沿原Issue查询继续取新片段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用与D相同的提示词重新分析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19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  缺口驱动补检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按当前核查缺口查找新证据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00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更新证据，重新分析并核查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571500" y="501015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共同起点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67000" y="5010150"/>
            <a:ext cx="8667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共享初轮分析、核查与门控结果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5543550"/>
            <a:ext cx="1905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轮数匹配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667000" y="5543550"/>
            <a:ext cx="86677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R/S与D轮数一致，最多3轮、6次调用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Grp="1"/>
          </p:cNvSpPr>
          <p:nvPr/>
        </p:nvSpPr>
        <p:spPr>
          <a:xfrm>
            <a:off x="571500" y="36195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对照实验结果：相对固定查询仅小幅提高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38225"/>
            <a:ext cx="109537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同题匿名模型评分0—4级，34题完整配对，实际Token按方法归属另计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6219825"/>
            <a:ext cx="10382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另有5题未完成，可能存在选择偏差。同系列模型等级评分，不代表人工准确率或统计显著性。</a:t>
            </a:r>
          </a:p>
        </p:txBody>
      </p:sp>
      <p:graphicFrame>
        <p:nvGraphicFramePr>
          <p:cNvPr id="5" name="表格 4"/>
          <p:cNvGraphicFramePr/>
          <p:nvPr/>
        </p:nvGraphicFramePr>
        <p:xfrm>
          <a:off x="571500" y="1743075"/>
          <a:ext cx="11049000" cy="2000252"/>
        </p:xfrm>
        <a:graphic>
          <a:graphicData uri="http://schemas.openxmlformats.org/drawingml/2006/table">
            <a:tbl>
              <a:tblPr/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43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方法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题数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正确性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完整性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可操作性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不确定性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2.91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2.44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3.53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3.41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2.76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2.56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3.35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3.47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2.91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2.68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875" b="1">
                          <a:solidFill>
                            <a:srgbClr val="087F78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3.53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EE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571500" y="3981450"/>
          <a:ext cx="11049000" cy="1304925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比较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可操作性平均差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D胜／平／负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D的Token增加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D−R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+0.24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7/26/1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+6.9%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D−S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+0.12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8/21/5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+2.8%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矩形 6"/>
          <p:cNvSpPr>
            <a:spLocks noGrp="1"/>
          </p:cNvSpPr>
          <p:nvPr/>
        </p:nvSpPr>
        <p:spPr>
          <a:xfrm>
            <a:off x="571500" y="5457825"/>
            <a:ext cx="1104900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相对固定证据修订更有优势，相对固定查询收益有限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71500" y="5838825"/>
            <a:ext cx="1104900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30题子集：D−R +0.20，D−S +0.07。相对S的净增分集中于Manim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/>
          <p:cNvSpPr>
            <a:spLocks noGrp="1"/>
          </p:cNvSpPr>
          <p:nvPr/>
        </p:nvSpPr>
        <p:spPr>
          <a:xfrm>
            <a:off x="571500" y="361950"/>
            <a:ext cx="11049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失败分析与检索修正：Ray #49011</a:t>
            </a: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1057275"/>
            <a:ext cx="110490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任务：展示Dashboard数据最后加载时间，并可能提供手动刷新按钮</a:t>
            </a: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571500" y="182880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352550" y="1828800"/>
            <a:ext cx="4429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发现检索盲区</a:t>
            </a: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352550" y="2286000"/>
            <a:ext cx="461962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原索引未纳入JS/TS文件，</a:t>
            </a:r>
          </a:p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补检后仍缺少Dashboard前端证据。</a:t>
            </a: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71500" y="3133725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352550" y="3133725"/>
            <a:ext cx="4429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修正源码覆盖</a:t>
            </a: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52550" y="3590925"/>
            <a:ext cx="461962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独立索引增加JS/TS并过滤生成文件。</a:t>
            </a:r>
          </a:p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旧索引、旧实验与界面保持不变。</a:t>
            </a: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71500" y="4438650"/>
            <a:ext cx="6191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52550" y="4438650"/>
            <a:ext cx="44291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获得具体阅读入口</a:t>
            </a: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352550" y="4895850"/>
            <a:ext cx="4619625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找到刷新控件及按钮回调，</a:t>
            </a:r>
          </a:p>
          <a:p>
            <a:pPr algn="l">
              <a:buNone/>
              <a:def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入手建议指向具体前端组件。</a:t>
            </a: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6553200" y="1781175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单案例运行对照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6553200" y="2333625"/>
          <a:ext cx="5067300" cy="2000252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指标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原配置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扩展后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>
                      <a:solidFill>
                        <a:srgbClr val="CFDCE5"/>
                      </a:solidFill>
                      <a:prstDash val="soli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087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前端证据文件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分析轮数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3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模型调用</a:t>
                      </a:r>
                    </a:p>
                  </a:txBody>
                  <a:tcPr marL="142875" marR="114300" marT="95250" marB="95250" anchor="ctr">
                    <a:lnL w="9525">
                      <a:solidFill>
                        <a:srgbClr val="CFDCE5"/>
                      </a:solidFill>
                      <a:prstDash val="soli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725" b="0">
                          <a:solidFill>
                            <a:srgbClr val="142A4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</a:t>
                      </a:r>
                    </a:p>
                  </a:txBody>
                  <a:tcPr marL="142875" marR="114300" marT="95250" marB="95250" anchor="ctr">
                    <a:lnL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CE5"/>
                      </a:solidFill>
                      <a:prstDash val="solid"/>
                    </a:lnR>
                    <a:lnT w="9525" cap="flat" cmpd="sng" algn="ctr">
                      <a:solidFill>
                        <a:srgbClr val="CFDC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CE5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" name="矩形 13"/>
          <p:cNvSpPr>
            <a:spLocks noGrp="1"/>
          </p:cNvSpPr>
          <p:nvPr/>
        </p:nvSpPr>
        <p:spPr>
          <a:xfrm>
            <a:off x="6553200" y="4572000"/>
            <a:ext cx="50673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补检命中的Ray原有前端代码</a:t>
            </a: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553200" y="4972050"/>
            <a:ext cx="50673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onClick={onRefreshClick}</a:t>
            </a: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6553200" y="5495925"/>
            <a:ext cx="506730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LogViewer.tsx：点击刷新按钮时执行的回调</a:t>
            </a: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71500" y="6267450"/>
            <a:ext cx="10382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 algn="l"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78899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事后单案例诊断，未重新评分、不合入旧34题。实际轮数不同，仅说明本次变化，不代表总体提升或已完成修复。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直接箭头连接符 21"/>
          <p:cNvCxnSpPr>
            <a:stCxn id="13" idx="3"/>
            <a:endCxn id="16" idx="1"/>
          </p:cNvCxnSpPr>
          <p:nvPr/>
        </p:nvCxnSpPr>
        <p:spPr>
          <a:xfrm>
            <a:off x="9353550" y="2319338"/>
            <a:ext cx="171450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21" name="直接箭头连接符 20"/>
          <p:cNvCxnSpPr>
            <a:stCxn id="10" idx="3"/>
            <a:endCxn id="13" idx="1"/>
          </p:cNvCxnSpPr>
          <p:nvPr/>
        </p:nvCxnSpPr>
        <p:spPr>
          <a:xfrm>
            <a:off x="7124700" y="2319338"/>
            <a:ext cx="171450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20" name="直接箭头连接符 19"/>
          <p:cNvCxnSpPr>
            <a:stCxn id="7" idx="3"/>
            <a:endCxn id="10" idx="1"/>
          </p:cNvCxnSpPr>
          <p:nvPr/>
        </p:nvCxnSpPr>
        <p:spPr>
          <a:xfrm>
            <a:off x="4895850" y="2319338"/>
            <a:ext cx="171450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cxnSp>
        <p:nvCxnSpPr>
          <p:cNvPr id="19" name="直接箭头连接符 18"/>
          <p:cNvCxnSpPr>
            <a:stCxn id="4" idx="3"/>
            <a:endCxn id="7" idx="1"/>
          </p:cNvCxnSpPr>
          <p:nvPr/>
        </p:nvCxnSpPr>
        <p:spPr>
          <a:xfrm>
            <a:off x="2667000" y="2319338"/>
            <a:ext cx="171450" cy="0"/>
          </a:xfrm>
          <a:prstGeom prst="straightConnector1">
            <a:avLst/>
          </a:prstGeom>
          <a:ln w="20955">
            <a:solidFill>
              <a:srgbClr val="087F78"/>
            </a:solidFill>
            <a:prstDash val="solid"/>
            <a:tailEnd type="triangle" w="sm" len="sm"/>
          </a:ln>
        </p:spPr>
      </p:cxnSp>
      <p:sp>
        <p:nvSpPr>
          <p:cNvPr id="29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相关GFI推荐：解释共同技术与新增知识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rec-0"/>
          <p:cNvSpPr>
            <a:spLocks noGrp="1"/>
          </p:cNvSpPr>
          <p:nvPr/>
        </p:nvSpPr>
        <p:spPr>
          <a:xfrm>
            <a:off x="609600" y="1704975"/>
            <a:ext cx="20574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5" name="rec-0-title"/>
          <p:cNvSpPr>
            <a:spLocks noGrp="1"/>
          </p:cNvSpPr>
          <p:nvPr/>
        </p:nvSpPr>
        <p:spPr>
          <a:xfrm>
            <a:off x="771525" y="1838325"/>
            <a:ext cx="1733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任务档案</a:t>
            </a:r>
          </a:p>
        </p:txBody>
      </p:sp>
      <p:sp>
        <p:nvSpPr>
          <p:cNvPr id="6" name="rec-0-body"/>
          <p:cNvSpPr>
            <a:spLocks noGrp="1"/>
          </p:cNvSpPr>
          <p:nvPr/>
        </p:nvSpPr>
        <p:spPr>
          <a:xfrm>
            <a:off x="771525" y="2286000"/>
            <a:ext cx="1733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读取已有分析</a:t>
            </a:r>
          </a:p>
        </p:txBody>
      </p:sp>
      <p:sp>
        <p:nvSpPr>
          <p:cNvPr id="7" name="rec-1"/>
          <p:cNvSpPr>
            <a:spLocks noGrp="1"/>
          </p:cNvSpPr>
          <p:nvPr/>
        </p:nvSpPr>
        <p:spPr>
          <a:xfrm>
            <a:off x="2838450" y="1704975"/>
            <a:ext cx="20574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8" name="rec-1-title"/>
          <p:cNvSpPr>
            <a:spLocks noGrp="1"/>
          </p:cNvSpPr>
          <p:nvPr/>
        </p:nvSpPr>
        <p:spPr>
          <a:xfrm>
            <a:off x="3000375" y="1838325"/>
            <a:ext cx="1733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统一技术名称</a:t>
            </a:r>
          </a:p>
        </p:txBody>
      </p:sp>
      <p:sp>
        <p:nvSpPr>
          <p:cNvPr id="9" name="rec-1-body"/>
          <p:cNvSpPr>
            <a:spLocks noGrp="1"/>
          </p:cNvSpPr>
          <p:nvPr/>
        </p:nvSpPr>
        <p:spPr>
          <a:xfrm>
            <a:off x="3000375" y="2286000"/>
            <a:ext cx="1733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技术名称与权重</a:t>
            </a:r>
          </a:p>
        </p:txBody>
      </p:sp>
      <p:sp>
        <p:nvSpPr>
          <p:cNvPr id="10" name="rec-2"/>
          <p:cNvSpPr>
            <a:spLocks noGrp="1"/>
          </p:cNvSpPr>
          <p:nvPr/>
        </p:nvSpPr>
        <p:spPr>
          <a:xfrm>
            <a:off x="5067300" y="1704975"/>
            <a:ext cx="20574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1" name="rec-2-title"/>
          <p:cNvSpPr>
            <a:spLocks noGrp="1"/>
          </p:cNvSpPr>
          <p:nvPr/>
        </p:nvSpPr>
        <p:spPr>
          <a:xfrm>
            <a:off x="5229225" y="1838325"/>
            <a:ext cx="1733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候选筛选</a:t>
            </a:r>
          </a:p>
        </p:txBody>
      </p:sp>
      <p:sp>
        <p:nvSpPr>
          <p:cNvPr id="12" name="rec-2-body"/>
          <p:cNvSpPr>
            <a:spLocks noGrp="1"/>
          </p:cNvSpPr>
          <p:nvPr/>
        </p:nvSpPr>
        <p:spPr>
          <a:xfrm>
            <a:off x="5229225" y="2286000"/>
            <a:ext cx="1733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同项目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排除当前任务</a:t>
            </a:r>
          </a:p>
        </p:txBody>
      </p:sp>
      <p:sp>
        <p:nvSpPr>
          <p:cNvPr id="13" name="rec-3"/>
          <p:cNvSpPr>
            <a:spLocks noGrp="1"/>
          </p:cNvSpPr>
          <p:nvPr/>
        </p:nvSpPr>
        <p:spPr>
          <a:xfrm>
            <a:off x="7296150" y="1704975"/>
            <a:ext cx="2057400" cy="1228725"/>
          </a:xfrm>
          <a:prstGeom prst="rect">
            <a:avLst/>
          </a:prstGeom>
          <a:solidFill>
            <a:srgbClr val="FFFFFF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4" name="rec-3-title"/>
          <p:cNvSpPr>
            <a:spLocks noGrp="1"/>
          </p:cNvSpPr>
          <p:nvPr/>
        </p:nvSpPr>
        <p:spPr>
          <a:xfrm>
            <a:off x="7458075" y="1838325"/>
            <a:ext cx="1733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技术相似度</a:t>
            </a:r>
          </a:p>
        </p:txBody>
      </p:sp>
      <p:sp>
        <p:nvSpPr>
          <p:cNvPr id="15" name="rec-3-body"/>
          <p:cNvSpPr>
            <a:spLocks noGrp="1"/>
          </p:cNvSpPr>
          <p:nvPr/>
        </p:nvSpPr>
        <p:spPr>
          <a:xfrm>
            <a:off x="7458075" y="2286000"/>
            <a:ext cx="1733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加权Jaccard</a:t>
            </a:r>
          </a:p>
        </p:txBody>
      </p:sp>
      <p:sp>
        <p:nvSpPr>
          <p:cNvPr id="16" name="rec-4"/>
          <p:cNvSpPr>
            <a:spLocks noGrp="1"/>
          </p:cNvSpPr>
          <p:nvPr/>
        </p:nvSpPr>
        <p:spPr>
          <a:xfrm>
            <a:off x="9525000" y="1704975"/>
            <a:ext cx="2057400" cy="1228725"/>
          </a:xfrm>
          <a:prstGeom prst="rect">
            <a:avLst/>
          </a:prstGeom>
          <a:solidFill>
            <a:srgbClr val="E8F4F1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7" name="rec-4-title"/>
          <p:cNvSpPr>
            <a:spLocks noGrp="1"/>
          </p:cNvSpPr>
          <p:nvPr/>
        </p:nvSpPr>
        <p:spPr>
          <a:xfrm>
            <a:off x="9686925" y="1838325"/>
            <a:ext cx="17335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推荐解释</a:t>
            </a:r>
          </a:p>
        </p:txBody>
      </p:sp>
      <p:sp>
        <p:nvSpPr>
          <p:cNvPr id="18" name="rec-4-body"/>
          <p:cNvSpPr>
            <a:spLocks noGrp="1"/>
          </p:cNvSpPr>
          <p:nvPr/>
        </p:nvSpPr>
        <p:spPr>
          <a:xfrm>
            <a:off x="9686925" y="2286000"/>
            <a:ext cx="17335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前3项技术对照</a:t>
            </a:r>
          </a:p>
          <a:p>
            <a:pPr algn="l">
              <a:buNone/>
              <a:def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附证据来源</a:t>
            </a:r>
          </a:p>
        </p:txBody>
      </p:sp>
      <p:sp>
        <p:nvSpPr>
          <p:cNvPr id="23" name="formula"/>
          <p:cNvSpPr>
            <a:spLocks noGrp="1"/>
          </p:cNvSpPr>
          <p:nvPr/>
        </p:nvSpPr>
        <p:spPr>
          <a:xfrm>
            <a:off x="609600" y="3352800"/>
            <a:ext cx="109728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相似度＝共同技术权重之和 ÷ 两个任务全部技术的去重权重之和</a:t>
            </a:r>
          </a:p>
        </p:txBody>
      </p:sp>
      <p:sp>
        <p:nvSpPr>
          <p:cNvPr id="24" name="real-case"/>
          <p:cNvSpPr>
            <a:spLocks noGrp="1"/>
          </p:cNvSpPr>
          <p:nvPr/>
        </p:nvSpPr>
        <p:spPr>
          <a:xfrm>
            <a:off x="609600" y="4124325"/>
            <a:ext cx="59055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真实推荐：Manim #4983 → #4183</a:t>
            </a:r>
          </a:p>
        </p:txBody>
      </p:sp>
      <p:sp>
        <p:nvSpPr>
          <p:cNvPr id="25" name="score"/>
          <p:cNvSpPr>
            <a:spLocks noGrp="1"/>
          </p:cNvSpPr>
          <p:nvPr/>
        </p:nvSpPr>
        <p:spPr>
          <a:xfrm>
            <a:off x="609600" y="4724400"/>
            <a:ext cx="5334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共同权重11 ／ 并集权重14</a:t>
            </a:r>
          </a:p>
          <a:p>
            <a:pPr algn="l">
              <a:buNone/>
              <a:def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相似度约0.786</a:t>
            </a:r>
          </a:p>
        </p:txBody>
      </p:sp>
      <p:sp>
        <p:nvSpPr>
          <p:cNvPr id="26" name="shared"/>
          <p:cNvSpPr>
            <a:spLocks noGrp="1"/>
          </p:cNvSpPr>
          <p:nvPr/>
        </p:nvSpPr>
        <p:spPr>
          <a:xfrm>
            <a:off x="6743700" y="4114800"/>
            <a:ext cx="48387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共同技术：Manim对象、Python、</a:t>
            </a:r>
          </a:p>
          <a:p>
            <a: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NumPy、pytest、面向对象与测试。</a:t>
            </a:r>
          </a:p>
        </p:txBody>
      </p:sp>
      <p:sp>
        <p:nvSpPr>
          <p:cNvPr id="27" name="new"/>
          <p:cNvSpPr>
            <a:spLocks noGrp="1"/>
          </p:cNvSpPr>
          <p:nvPr/>
        </p:nvSpPr>
        <p:spPr>
          <a:xfrm>
            <a:off x="6743700" y="5191125"/>
            <a:ext cx="48387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新增知识：API兼容与接口、</a:t>
            </a:r>
          </a:p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CI与依赖环境。</a:t>
            </a:r>
          </a:p>
        </p:txBody>
      </p:sp>
      <p:sp>
        <p:nvSpPr>
          <p:cNvPr id="28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推荐基于50份已有档案，展示任务间技术联系；未纳入本轮39题任务理解评测。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原型演示：将任务分析组织为可读导读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581654"/>
            <a:ext cx="7410450" cy="4170941"/>
          </a:xfrm>
          <a:prstGeom prst="rect">
            <a:avLst/>
          </a:prstGeom>
        </p:spPr>
      </p:pic>
      <p:sp>
        <p:nvSpPr>
          <p:cNvPr id="5" name="demo-title-0"/>
          <p:cNvSpPr>
            <a:spLocks noGrp="1"/>
          </p:cNvSpPr>
          <p:nvPr/>
        </p:nvSpPr>
        <p:spPr>
          <a:xfrm>
            <a:off x="8439150" y="173355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中文任务导读</a:t>
            </a:r>
          </a:p>
        </p:txBody>
      </p:sp>
      <p:sp>
        <p:nvSpPr>
          <p:cNvPr id="6" name="demo-body-0"/>
          <p:cNvSpPr>
            <a:spLocks noGrp="1"/>
          </p:cNvSpPr>
          <p:nvPr/>
        </p:nvSpPr>
        <p:spPr>
          <a:xfrm>
            <a:off x="8439150" y="2238375"/>
            <a:ext cx="314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目标、技术用途与入手建议</a:t>
            </a:r>
          </a:p>
        </p:txBody>
      </p:sp>
      <p:sp>
        <p:nvSpPr>
          <p:cNvPr id="7" name="demo-title-1"/>
          <p:cNvSpPr>
            <a:spLocks noGrp="1"/>
          </p:cNvSpPr>
          <p:nvPr/>
        </p:nvSpPr>
        <p:spPr>
          <a:xfrm>
            <a:off x="8439150" y="295275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仓库证据追溯</a:t>
            </a:r>
          </a:p>
        </p:txBody>
      </p:sp>
      <p:sp>
        <p:nvSpPr>
          <p:cNvPr id="8" name="demo-body-1"/>
          <p:cNvSpPr>
            <a:spLocks noGrp="1"/>
          </p:cNvSpPr>
          <p:nvPr/>
        </p:nvSpPr>
        <p:spPr>
          <a:xfrm>
            <a:off x="8439150" y="3457575"/>
            <a:ext cx="314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可读的源码路径和测试行号</a:t>
            </a:r>
          </a:p>
        </p:txBody>
      </p:sp>
      <p:sp>
        <p:nvSpPr>
          <p:cNvPr id="9" name="demo-title-2"/>
          <p:cNvSpPr>
            <a:spLocks noGrp="1"/>
          </p:cNvSpPr>
          <p:nvPr/>
        </p:nvSpPr>
        <p:spPr>
          <a:xfrm>
            <a:off x="8439150" y="4171950"/>
            <a:ext cx="3143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相关任务与问答</a:t>
            </a:r>
          </a:p>
        </p:txBody>
      </p:sp>
      <p:sp>
        <p:nvSpPr>
          <p:cNvPr id="10" name="demo-body-2"/>
          <p:cNvSpPr>
            <a:spLocks noGrp="1"/>
          </p:cNvSpPr>
          <p:nvPr/>
        </p:nvSpPr>
        <p:spPr>
          <a:xfrm>
            <a:off x="8439150" y="4676775"/>
            <a:ext cx="31432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解释推荐依据，支持流式追问</a:t>
            </a:r>
          </a:p>
        </p:txBody>
      </p:sp>
      <p:sp>
        <p:nvSpPr>
          <p:cNvPr id="11" name="launch"/>
          <p:cNvSpPr>
            <a:spLocks noGrp="1"/>
          </p:cNvSpPr>
          <p:nvPr/>
        </p:nvSpPr>
        <p:spPr>
          <a:xfrm>
            <a:off x="609600" y="583882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8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用户沿着“任务目标—所需技术—代码与测试”逐步阅读，并可继续追问。</a:t>
            </a:r>
          </a:p>
        </p:txBody>
      </p:sp>
      <p:sp>
        <p:nvSpPr>
          <p:cNvPr id="12" name="footnote"/>
          <p:cNvSpPr>
            <a:spLocks noGrp="1"/>
          </p:cNvSpPr>
          <p:nvPr/>
        </p:nvSpPr>
        <p:spPr>
          <a:xfrm>
            <a:off x="609600" y="6181725"/>
            <a:ext cx="10287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原型展示已有50份分析档案；研究流程用于方法验证，输出独立保存。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"/>
          <p:cNvSpPr>
            <a:spLocks noGrp="1"/>
          </p:cNvSpPr>
          <p:nvPr/>
        </p:nvSpPr>
        <p:spPr>
          <a:xfrm>
            <a:off x="609600" y="400050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方法总结：让任务解释有依据、能追溯</a:t>
            </a:r>
          </a:p>
        </p:txBody>
      </p:sp>
      <p:sp>
        <p:nvSpPr>
          <p:cNvPr id="2" name="title-rule"/>
          <p:cNvSpPr>
            <a:spLocks noGrp="1"/>
          </p:cNvSpPr>
          <p:nvPr/>
        </p:nvSpPr>
        <p:spPr>
          <a:xfrm>
            <a:off x="609600" y="112395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4" name="claim-1-label"/>
          <p:cNvSpPr>
            <a:spLocks noGrp="1"/>
          </p:cNvSpPr>
          <p:nvPr/>
        </p:nvSpPr>
        <p:spPr>
          <a:xfrm>
            <a:off x="609600" y="14668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逐条核查：说明每条核心结论的依据</a:t>
            </a:r>
          </a:p>
        </p:txBody>
      </p:sp>
      <p:sp>
        <p:nvSpPr>
          <p:cNvPr id="5" name="claim-1-body"/>
          <p:cNvSpPr>
            <a:spLocks noGrp="1"/>
          </p:cNvSpPr>
          <p:nvPr/>
        </p:nvSpPr>
        <p:spPr>
          <a:xfrm>
            <a:off x="609600" y="189547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按证据支持程度保留或暂缓结论，让分析依据可以追溯。</a:t>
            </a:r>
          </a:p>
        </p:txBody>
      </p:sp>
      <p:sp>
        <p:nvSpPr>
          <p:cNvPr id="6" name="claim-2-label"/>
          <p:cNvSpPr>
            <a:spLocks noGrp="1"/>
          </p:cNvSpPr>
          <p:nvPr/>
        </p:nvSpPr>
        <p:spPr>
          <a:xfrm>
            <a:off x="609600" y="266700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按缺口补检：用新证据完善任务解释</a:t>
            </a:r>
          </a:p>
        </p:txBody>
      </p:sp>
      <p:sp>
        <p:nvSpPr>
          <p:cNvPr id="7" name="claim-2-body"/>
          <p:cNvSpPr>
            <a:spLocks noGrp="1"/>
          </p:cNvSpPr>
          <p:nvPr/>
        </p:nvSpPr>
        <p:spPr>
          <a:xfrm>
            <a:off x="609600" y="309562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将缺失依据转为查询，更新证据后重新分析，并保存逐轮变化。</a:t>
            </a:r>
          </a:p>
        </p:txBody>
      </p:sp>
      <p:sp>
        <p:nvSpPr>
          <p:cNvPr id="8" name="claim-3-label"/>
          <p:cNvSpPr>
            <a:spLocks noGrp="1"/>
          </p:cNvSpPr>
          <p:nvPr/>
        </p:nvSpPr>
        <p:spPr>
          <a:xfrm>
            <a:off x="609600" y="38671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解释任务联系：展示共同技术与新增知识</a:t>
            </a:r>
          </a:p>
        </p:txBody>
      </p:sp>
      <p:sp>
        <p:nvSpPr>
          <p:cNvPr id="9" name="claim-3-body"/>
          <p:cNvSpPr>
            <a:spLocks noGrp="1"/>
          </p:cNvSpPr>
          <p:nvPr/>
        </p:nvSpPr>
        <p:spPr>
          <a:xfrm>
            <a:off x="609600" y="4295775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42A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把技术档案组织为中文导读，帮助用户对照阅读相关任务。</a:t>
            </a:r>
          </a:p>
        </p:txBody>
      </p:sp>
      <p:sp>
        <p:nvSpPr>
          <p:cNvPr id="10" name="outcome-line"/>
          <p:cNvSpPr>
            <a:spLocks noGrp="1"/>
          </p:cNvSpPr>
          <p:nvPr/>
        </p:nvSpPr>
        <p:spPr>
          <a:xfrm>
            <a:off x="609600" y="5067300"/>
            <a:ext cx="10972800" cy="19050"/>
          </a:xfrm>
          <a:prstGeom prst="rect">
            <a:avLst/>
          </a:prstGeom>
          <a:solidFill>
            <a:srgbClr val="CFDCE5"/>
          </a:solidFill>
          <a:ln w="9525">
            <a:solidFill>
              <a:srgbClr val="CFDCE5"/>
            </a:solidFill>
            <a:prstDash val="solid"/>
          </a:ln>
        </p:spPr>
      </p:sp>
      <p:sp>
        <p:nvSpPr>
          <p:cNvPr id="11" name="outcomes"/>
          <p:cNvSpPr>
            <a:spLocks noGrp="1"/>
          </p:cNvSpPr>
          <p:nvPr/>
        </p:nvSpPr>
        <p:spPr>
          <a:xfrm>
            <a:off x="609600" y="5286375"/>
            <a:ext cx="109728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2100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967条Issue · 156份消融答案 · 102份对照答案 · 50份导读</a:t>
            </a:r>
          </a:p>
        </p:txBody>
      </p:sp>
      <p:sp>
        <p:nvSpPr>
          <p:cNvPr id="12" name="footnote"/>
          <p:cNvSpPr>
            <a:spLocks noGrp="1"/>
          </p:cNvSpPr>
          <p:nvPr/>
        </p:nvSpPr>
        <p:spPr>
          <a:xfrm>
            <a:off x="609600" y="5905500"/>
            <a:ext cx="102870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buNone/>
              <a:defRPr sz="1350" b="0">
                <a:solidFill>
                  <a:srgbClr val="53677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buNone/>
              <a:defRPr sz="23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087F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形成可追溯的 GFI 任务理解与贡献导航方法。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2545</Words>
  <Application>Microsoft Office PowerPoint</Application>
  <PresentationFormat>宽屏</PresentationFormat>
  <Paragraphs>445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微软雅黑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博 张</cp:lastModifiedBy>
  <cp:revision>2</cp:revision>
  <dcterms:created xsi:type="dcterms:W3CDTF">2026-10-19T08:10:58Z</dcterms:created>
  <dcterms:modified xsi:type="dcterms:W3CDTF">2026-10-19T08:40:55Z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0F989B7C931347109ABB64614EC1EDA6_12</vt:lpwstr>
  </property>
  <property fmtid="{D5CDD505-2E9C-101B-9397-08002B2CF9AE}" pid="3" name="KSOProductBuildVer">
    <vt:lpwstr>2052-12.1.0.29158</vt:lpwstr>
  </property>
</Properties>
</file>