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73" r:id="rId7"/>
    <p:sldId id="260" r:id="rId8"/>
    <p:sldId id="261" r:id="rId9"/>
    <p:sldId id="262" r:id="rId10"/>
    <p:sldId id="274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5" r:id="rId22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介绍项目时先强调：研究重点是任务理解方法，贡献导航是可运行原型中的辅助能力。</a:t>
            </a:r>
          </a:p>
          <a:p/>
          <a:p>
            <a:r>
              <a:t>依据：用户提供的演示ppt.pptx，第1页；README.md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任务门槛是对完成此任务所需基础的判断，不是对具体用户能力的画像。</a:t>
            </a:r>
          </a:p>
          <a:p/>
          <a:p>
            <a:r>
              <a:t>依据：演示ppt.pptx，第2页；gfi_prototype/analysis_v2.py；gfi_prototype/task_matching.py</a:t>
            </a:r>
          </a:p>
          <a:p/>
          <a:p>
            <a:r>
              <a:t>讲述补充：任务所需最低知识基础即“能力门槛”；这描述任务要求，供用户自我判断，不建立个人画像或推断个人成功率。接下来先介绍材料来源，再说明怎样把材料组织成证据。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这里展示两个已经存在但尚未自动接通的链路。不要把D组实验输出与前端50份分析缓存画成同一份成果。</a:t>
            </a:r>
          </a:p>
          <a:p/>
          <a:p>
            <a:r>
              <a:t>依据：gfi_prototype/research/pipeline.py；batch_analyze.py；gfi_prototype/portal.py；gfi_prototype/portal_server.py</a:t>
            </a:r>
          </a:p>
          <a:p/>
          <a:p>
            <a:r>
              <a:t>讲述补充：先用一句话概括主线：读取任务需求，检索仓库证据，再由Agent分析并核查结论；发现缺口则补检。研究D组结果并未自动写入门户缓存，原型使用已有v2分析档案。下一页展开“证据从哪里来”。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945和22是967的组成部分，不能再次叠加计数。评论与时间线数据不进入研究分析条件。</a:t>
            </a:r>
          </a:p>
          <a:p/>
          <a:p>
            <a:r>
              <a:t>依据：演示ppt.pptx，第3页；data/*/processed/triage.jsonl；data/DATA_AUDIT.md</a:t>
            </a:r>
          </a:p>
          <a:p/>
          <a:p>
            <a:r>
              <a:t>讲述补充：数据通过GitHub API采集。945和22是967的组成部分。评论和时间线只作采集留档，未进入本次研究输入。材料准备好后，需要说明各环节如何协作。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索引80行分片、60行步长，存在20行重叠。研究证据包按JSON字符长度限制最多42000；Issue正文截取前6500字符。</a:t>
            </a:r>
          </a:p>
          <a:p/>
          <a:p>
            <a:r>
              <a:t>依据：gfi_prototype/retrieval.py；gfi_prototype/research/retrieval.py</a:t>
            </a:r>
          </a:p>
          <a:p/>
          <a:p>
            <a:r>
              <a:t>讲述补充：“证据包”就是给本次任务分析使用的需求、仓库片段及来源集合。检索实现为SQLite FTS5＋BM25；片段最多80行、步长60行，初始最多8片；正文前6500字符，研究证据包最多42000字符。正文先讲用途，追问时再说明这些参数。检索命中本身不等于语义支持。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五个实际LangGraph节点为analyze、audit、gate、supplement、finalize。分析与核查使用同一DeepSeek Flash模型、不同角色提示词。状态为WorkflowState；异常时只返回最后完整轮，无完整轮则失败。当前框架版本evidence_adaptive_langgraph_v1。</a:t>
            </a:r>
          </a:p>
          <a:p/>
          <a:p>
            <a:r>
              <a:t>依据：gfi_prototype/research/pipeline.py；gfi_prototype/research/client.py；gfi_prototype/research/evidence.py；docs/LANGGRAPH_WORKFLOW.md</a:t>
            </a:r>
          </a:p>
          <a:p/>
          <a:p>
            <a:r>
              <a:t>讲述补充：“门控”指筛选结论：保留直接支持和合理推断，暂缓部分支持及不足结论并记录未知。仅目标、技术要求、能力门槛和验收项进入该门控；原始入手步骤与文件列表另行保留。无检索词、无新证据、达两轮上限、预算不足或模型/检索/校验异常时停止，返回最后完整轮。用下一页真实轨迹解释补检怎样改变输出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资料来源：experiments/frozen_20261017/equal_calls_v1/results/ray-project__ray__3269/D.json；快照3235a8e1e84de7c7fde217553c83e3c38d8560fe。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实现依据：gfi_prototype/chat.py的chat_events与ChatDeepSeek.stream；gfi_prototype/qa.py的gather_context与build_prompt；gfi_prototype/portal_server.py的POST /api/chat和SSE；web/app.js的sendChat和renderChat。对话链采用LangChain ChatDeepSeek调用DeepSeek Flash，Python本地HTTP服务发送SSE事件，HTML/CSS/JavaScript前端增量显示。模型回答参考Issue原文、既有导读/展示分析、固定版本源码检索片段、同项目推荐与最多8条近期消息。代码阅读和验证内容均为建议，不代表已经运行测试。该交互层不执行研究LangGraph中的证据核查及补检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五项目945条具体任务中排除已有分析缓存和标注草稿任务；项目配额10/10/10/10/5，按task_types首标签分层，组内固定seed20261017打乱，层间轮询。再剔除Manim2379和五项目开发样例，正式39题。A/B评原分析核心字段，C/D评门控核心字段。</a:t>
            </a:r>
          </a:p>
          <a:p/>
          <a:p>
            <a:r>
              <a:t>依据：gfi_prototype/research/protocol.py；experiments/frozen_20261017/protocol.json；experiments/frozen_20261017/final_heldout_v3/holdout_manifest.json；gfi_prototype/research/pipeline.py</a:t>
            </a:r>
          </a:p>
          <a:p/>
          <a:p>
            <a:r>
              <a:t>讲述补充：承接案例：单例只能说明运行过程，因此对39个任务逐题运行A/B/C/D，观察增加模块后答案评分如何变化。抽样、开发样例排除、源码身份与固定随机种子均沿用冻结协议。然后说明评价标准，避免直接展示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主答案前四项与未全部语义门控的原始配套指导分开评分。评审先生成有限参考点，再评答案；同系列模型可能存在共同偏差。实验评分来自evidence_adaptive_v2的156份历史答案，不是LangGraph重跑。</a:t>
            </a:r>
          </a:p>
          <a:p/>
          <a:p>
            <a:r>
              <a:t>依据：judge_experiments.py；experiments/frozen_20261017/final_heldout_v3/model_judge/8d4ee922f2e0f946/model_evaluation.md</a:t>
            </a:r>
          </a:p>
          <a:p/>
          <a:p>
            <a:r>
              <a:t>讲述补充：评分等级为0严重欠缺、1较差、2一般、3良好、4充分，缺失不按0分。前四项是最终主答案，原始配套指导另计。评审模型为deepseek-v4-pro，同系列模型可能存在共同偏差，无人工Gold。下一页按主要发现、关键数字、资源代价依次解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前三指标领先，B/D不确定性同为3.62。D−C完整性+0.51、可操作性+0.49；相同任务配对D−B可操作性18/15/6，未四舍五入均差12/39。B/C独立生成，不可将C下降全部归因于门控删除。D−B配对bootstrap95%区间约[0.08,0.54]，反映当前模型评分样本波动，非人工正确率。最终运行请求耗时中位数45.719/8.938，Token1903946/489457；D有一份usage不完整，非全部历史成本。</a:t>
            </a:r>
          </a:p>
          <a:p/>
          <a:p>
            <a:r>
              <a:t>依据：experiments/frozen_20261017/final_heldout_v3/model_judge/8d4ee922f2e0f946/model_evaluation.md；experiments/frozen_20261017/final_heldout_v3/results/*/*.json</a:t>
            </a:r>
          </a:p>
          <a:p/>
          <a:p>
            <a:r>
              <a:t>讲述补充：原始配套指导评分仍保留：A3.05、B3.69、C3.62、D3.85，单独评价且非全部经过门控。主表16个均分、D−B可操作性+0.31及18胜15平6负均未改动。D对B正确性与完整性均约+0.10，故主结论聚焦可操作性。成本是最终运行内请求耗时中位数约5.1倍、记录Token至少约3.9倍，不是全部历史重跑成本。表明当前模型评分下的相对表现，不等于真实新人收益或人工准确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−B主答案可操作性：Manim1/8=0.125、Dask3/9、napari2/4、Ray6/9、SymPy0/9；表内按十进制四舍五入显示。Ray净增6分，占总净增12分的50%。文档7题0.00、重构3题−0.33，类型来自原冻结标签，样本少，不能外推。6个下降案例中dask#4278和sympy#6698没有补检，3个最终没有暂缓项；部分差异可能涉及核心答案与原始配套步骤的评分范围，不能把下降都归因于补检。这不是独立人工核验或新增效果实验。当前尚未开展等预算对照。</a:t>
            </a:r>
          </a:p>
          <a:p/>
          <a:p>
            <a:r>
              <a:t>依据：output/研究改进_第1步_39题结果分析.md；output/研究改进_第1步_39题结果分析.json；experiments/frozen_20261017/final_heldout_v3/model_judge/8d4ee922f2e0f946/model_evaluation.json。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资料来源：experiments/frozen_20261017/equal_calls_v1/design.json；evaluation_completed_v1/cohort.json；results/。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资料来源：experiments/frozen_20261017/equal_calls_v1/design.json；evaluation_completed_v1/cohort.json；results/。output/研究改进_第2步_结果分析与PPT结论.json；review_equal_budget_completed.py。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experiments/frontend_case_ray49011_v1/design.json、results/legacy.json与results/frontend.json；output/前端源码单案例验证_分析结论.md；output/源码检索覆盖改进_说明与验证.json。固定源码中LogViewer.tsx第114—122行，E12包含onClick={onRefreshClick}。两配置均重新生成D答案；相同模型、提示、校验和最大轮数，实际轮数和Token不等。没有模型评审或仓库测试。MUI仍属推断，Grafana仅为指标页面参考，时间戳获取位置与任务覆盖范围未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Manim#4983→#4183的缓存加权Jaccard为11/14=0.785714，共同标签manim,numpy,oop,pytest,python,testing；新增api,ci。标签权重1/2/3来自规则，不是模型临时评分。研究directional推荐另有实现，但未接入门户及完成39题推荐评测。</a:t>
            </a:r>
          </a:p>
          <a:p/>
          <a:p>
            <a:r>
              <a:t>依据：gfi_prototype/task_matching.py；gfi_prototype/portal.py；recommend_gfi.py；app_core.latest_demo_data当前匹配缓存</a:t>
            </a:r>
          </a:p>
          <a:p/>
          <a:p>
            <a:r>
              <a:t>讲述补充：在介绍加权Jaccard前先讲直观含义：技术要求重合越多，相似度越高；推荐理由同时说明共同基础和新增知识，帮助用户对照理解。真实缓存11/14和0.785714不变。模型分析并不直接生成成功概率；不进行个人画像匹配。下一页展示这些档案怎样在界面里被阅读和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截图是已有Manim#4983任务详情，源图未改写文字或伪造交互。页面含AI任务助手入口，SSE流式问答由portal_server.py实现；本页没有运行新的付费问答。原型属于附加成果。</a:t>
            </a:r>
          </a:p>
          <a:p/>
          <a:p>
            <a:r>
              <a:t>依据：gfi_prototype/portal.py；gfi_prototype/portal_server.py；serve.py；.build/gfi_competition_deck_detailed/review-assets/portal-detail.png</a:t>
            </a:r>
          </a:p>
          <a:p/>
          <a:p>
            <a:r>
              <a:t>讲述补充：本地演示方式为python serve.py，打开http://127.0.0.1:8503/。127地址不是公开演示链接；公开提交使用实际可访问的仓库或演示入口。当前截图为已有Manim#4983 v2导读，D组研究结果未自动接入门户。现场围绕目标、技术、证据、推荐和追问展示，不必把启动命令作为主叙述。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核心贡献是选择性门控与缺口补检的组合设计及组件对照。仓库证据解析和任务导航属于能力展示；没有真实新人学习收益、推荐成功率或全量推荐质量结论。已保存实验为原编排版本，后续LangGraph迁移做离线兼容验证。</a:t>
            </a:r>
          </a:p>
          <a:p/>
          <a:p>
            <a:r>
              <a:t>依据：gfi_prototype/research/pipeline.py；gfi_prototype/research/evidence.py；gfi_prototype/task_matching.py；experiments/frozen_20261017/final_heldout_v3/model_judge/8d4ee922f2e0f946/model_evaluation.md；README.md</a:t>
            </a:r>
          </a:p>
          <a:p/>
          <a:p>
            <a:r>
              <a:t>讲述补充：回应开头：将任务需求、仓库依据和入手建议连接起来，并解释相关任务推荐。成果数量不变。后续工作包括稳定跟踪跨轮证据缺口、等预算和跨项目验证；使用LangGraph、DeepSeek或既有检索算法不构成首创声明。尚无真实新人学习收益或全量推荐效果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介绍项目时先强调：研究重点是任务理解方法，贡献导航是可运行原型中的辅助能力。</a:t>
            </a:r>
          </a:p>
          <a:p/>
          <a:p>
            <a:r>
              <a:t>依据：用户提供的演示ppt.pptx，第1页；README.md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rack"/>
          <p:cNvSpPr>
            <a:spLocks noGrp="1"/>
          </p:cNvSpPr>
          <p:nvPr/>
        </p:nvSpPr>
        <p:spPr>
          <a:xfrm>
            <a:off x="609600" y="647700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科研创新赛道 · 研究方法与可运行原型</a:t>
            </a:r>
            <a:endParaRPr sz="1800" b="0">
              <a:solidFill>
                <a:srgbClr val="B7D6D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cover-title"/>
          <p:cNvSpPr>
            <a:spLocks noGrp="1"/>
          </p:cNvSpPr>
          <p:nvPr/>
        </p:nvSpPr>
        <p:spPr>
          <a:xfrm>
            <a:off x="609600" y="16859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基于证据核查与自适应检索的</a:t>
            </a:r>
            <a:endParaRPr sz="3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科研软件开源任务理解与贡献导航方法</a:t>
            </a:r>
            <a:endParaRPr sz="3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cover-subtitle"/>
          <p:cNvSpPr>
            <a:spLocks noGrp="1"/>
          </p:cNvSpPr>
          <p:nvPr/>
        </p:nvSpPr>
        <p:spPr>
          <a:xfrm>
            <a:off x="647700" y="3810000"/>
            <a:ext cx="103822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0">
                <a:solidFill>
                  <a:srgbClr val="D6E5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解析任务需求，追溯仓库证据，以缺口驱动补检。</a:t>
            </a:r>
            <a:endParaRPr sz="2175" b="0">
              <a:solidFill>
                <a:srgbClr val="D6E5E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chool"/>
          <p:cNvSpPr>
            <a:spLocks noGrp="1"/>
          </p:cNvSpPr>
          <p:nvPr/>
        </p:nvSpPr>
        <p:spPr>
          <a:xfrm>
            <a:off x="647700" y="509587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湖北大学</a:t>
            </a:r>
            <a:endParaRPr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am"/>
          <p:cNvSpPr>
            <a:spLocks noGrp="1"/>
          </p:cNvSpPr>
          <p:nvPr/>
        </p:nvSpPr>
        <p:spPr>
          <a:xfrm>
            <a:off x="647700" y="5600700"/>
            <a:ext cx="104775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张博、李乐乐、胡格菲    ｜    指导教师：崔海波</a:t>
            </a:r>
            <a:endParaRPr sz="1875" b="0">
              <a:solidFill>
                <a:srgbClr val="C8D9E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title"/>
          <p:cNvSpPr>
            <a:spLocks noGrp="1"/>
          </p:cNvSpPr>
          <p:nvPr/>
        </p:nvSpPr>
        <p:spPr>
          <a:xfrm>
            <a:off x="609600" y="400050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新人理解 GFI 时遇到什么困难？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4" name="definition"/>
          <p:cNvSpPr>
            <a:spLocks noGrp="1"/>
          </p:cNvSpPr>
          <p:nvPr/>
        </p:nvSpPr>
        <p:spPr>
          <a:xfrm>
            <a:off x="609600" y="1400175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Good First Issue（GFI）是维护者为新人筛选并标记的入门任务，</a:t>
            </a:r>
            <a:endParaRPr sz="20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旨在降低参与门槛，帮助新人完成首次开源贡献。</a:t>
            </a:r>
            <a:endParaRPr sz="20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question-0"/>
          <p:cNvSpPr>
            <a:spLocks noGrp="1"/>
          </p:cNvSpPr>
          <p:nvPr/>
        </p:nvSpPr>
        <p:spPr>
          <a:xfrm>
            <a:off x="609600" y="2457450"/>
            <a:ext cx="152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任务目标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question-body-0"/>
          <p:cNvSpPr>
            <a:spLocks noGrp="1"/>
          </p:cNvSpPr>
          <p:nvPr/>
        </p:nvSpPr>
        <p:spPr>
          <a:xfrm>
            <a:off x="2333625" y="2457450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具体要做什么，做到什么程度？</a:t>
            </a:r>
            <a:endParaRPr sz="202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question-1"/>
          <p:cNvSpPr>
            <a:spLocks noGrp="1"/>
          </p:cNvSpPr>
          <p:nvPr/>
        </p:nvSpPr>
        <p:spPr>
          <a:xfrm>
            <a:off x="609600" y="3067050"/>
            <a:ext cx="152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项目作用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question-body-1"/>
          <p:cNvSpPr>
            <a:spLocks noGrp="1"/>
          </p:cNvSpPr>
          <p:nvPr/>
        </p:nvSpPr>
        <p:spPr>
          <a:xfrm>
            <a:off x="2333625" y="3067050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解决哪个问题，与项目如何关联？</a:t>
            </a:r>
            <a:endParaRPr sz="202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question-2"/>
          <p:cNvSpPr>
            <a:spLocks noGrp="1"/>
          </p:cNvSpPr>
          <p:nvPr/>
        </p:nvSpPr>
        <p:spPr>
          <a:xfrm>
            <a:off x="609600" y="3676650"/>
            <a:ext cx="152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技术门槛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question-body-2"/>
          <p:cNvSpPr>
            <a:spLocks noGrp="1"/>
          </p:cNvSpPr>
          <p:nvPr/>
        </p:nvSpPr>
        <p:spPr>
          <a:xfrm>
            <a:off x="2333625" y="3676650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需要哪些知识，如何判断自身是否适合？</a:t>
            </a:r>
            <a:endParaRPr sz="202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question-3"/>
          <p:cNvSpPr>
            <a:spLocks noGrp="1"/>
          </p:cNvSpPr>
          <p:nvPr/>
        </p:nvSpPr>
        <p:spPr>
          <a:xfrm>
            <a:off x="609600" y="4286250"/>
            <a:ext cx="152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入手路径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question-body-3"/>
          <p:cNvSpPr>
            <a:spLocks noGrp="1"/>
          </p:cNvSpPr>
          <p:nvPr/>
        </p:nvSpPr>
        <p:spPr>
          <a:xfrm>
            <a:off x="2333625" y="4286250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先看哪些代码、文档和测试？</a:t>
            </a:r>
            <a:endParaRPr sz="202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question-4"/>
          <p:cNvSpPr>
            <a:spLocks noGrp="1"/>
          </p:cNvSpPr>
          <p:nvPr/>
        </p:nvSpPr>
        <p:spPr>
          <a:xfrm>
            <a:off x="609600" y="4895850"/>
            <a:ext cx="152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相关任务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question-body-4"/>
          <p:cNvSpPr>
            <a:spLocks noGrp="1"/>
          </p:cNvSpPr>
          <p:nvPr/>
        </p:nvSpPr>
        <p:spPr>
          <a:xfrm>
            <a:off x="2333625" y="4895850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还有哪些任务可以对照学习？</a:t>
            </a:r>
            <a:endParaRPr sz="202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goal-rule"/>
          <p:cNvSpPr>
            <a:spLocks noGrp="1"/>
          </p:cNvSpPr>
          <p:nvPr/>
        </p:nvSpPr>
        <p:spPr>
          <a:xfrm>
            <a:off x="7781925" y="2457450"/>
            <a:ext cx="28575" cy="29527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16" name="goal-label"/>
          <p:cNvSpPr>
            <a:spLocks noGrp="1"/>
          </p:cNvSpPr>
          <p:nvPr/>
        </p:nvSpPr>
        <p:spPr>
          <a:xfrm>
            <a:off x="8191500" y="2495550"/>
            <a:ext cx="3333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研究目标</a:t>
            </a:r>
            <a:endParaRPr sz="23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goal"/>
          <p:cNvSpPr>
            <a:spLocks noGrp="1"/>
          </p:cNvSpPr>
          <p:nvPr/>
        </p:nvSpPr>
        <p:spPr>
          <a:xfrm>
            <a:off x="8191500" y="3057525"/>
            <a:ext cx="3333750" cy="2247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融合Issue与仓库证据，</a:t>
            </a:r>
            <a:endParaRPr sz="21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解析任务目标、技术要求</a:t>
            </a:r>
            <a:endParaRPr sz="21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和入手路径，解释相关</a:t>
            </a:r>
            <a:endParaRPr sz="21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GFI的推荐依据。</a:t>
            </a:r>
            <a:endParaRPr sz="21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title"/>
          <p:cNvSpPr>
            <a:spLocks noGrp="1"/>
          </p:cNvSpPr>
          <p:nvPr/>
        </p:nvSpPr>
        <p:spPr>
          <a:xfrm>
            <a:off x="609600" y="400050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总体技术路线：研究方法与原型应用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65" name="overall-goal"/>
          <p:cNvSpPr>
            <a:spLocks noGrp="1"/>
          </p:cNvSpPr>
          <p:nvPr/>
        </p:nvSpPr>
        <p:spPr>
          <a:xfrm>
            <a:off x="609600" y="1381125"/>
            <a:ext cx="10972800" cy="552450"/>
          </a:xfrm>
          <a:prstGeom prst="rect">
            <a:avLst/>
          </a:prstGeom>
          <a:solidFill>
            <a:srgbClr val="E8F4F1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/>
          </a:bodyPr>
          <a:lstStyle>
            <a:def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总目标  以 Issue 与固定版本源码为起点，形成可追溯的任务理解与同项目技术推荐</a:t>
            </a:r>
            <a:endParaRPr sz="180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module-data-panel"/>
          <p:cNvSpPr>
            <a:spLocks noGrp="1"/>
          </p:cNvSpPr>
          <p:nvPr/>
        </p:nvSpPr>
        <p:spPr>
          <a:xfrm>
            <a:off x="609600" y="2152650"/>
            <a:ext cx="5257800" cy="1695450"/>
          </a:xfrm>
          <a:prstGeom prst="rect">
            <a:avLst/>
          </a:prstGeom>
          <a:solidFill>
            <a:srgbClr val="EDF3FA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67" name="module-data-title"/>
          <p:cNvSpPr>
            <a:spLocks noGrp="1"/>
          </p:cNvSpPr>
          <p:nvPr/>
        </p:nvSpPr>
        <p:spPr>
          <a:xfrm>
            <a:off x="781050" y="2266950"/>
            <a:ext cx="49149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模块一  数据与证据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8" name="data-input"/>
          <p:cNvSpPr>
            <a:spLocks noGrp="1"/>
          </p:cNvSpPr>
          <p:nvPr/>
        </p:nvSpPr>
        <p:spPr>
          <a:xfrm>
            <a:off x="781050" y="2676525"/>
            <a:ext cx="150495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 fontScale="91503" lnSpcReduction="10000"/>
          </a:bodyPr>
          <a:lstStyle>
            <a:def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个项目 · 967 条 Issue</a:t>
            </a:r>
            <a:endParaRPr sz="12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固定版本源码</a:t>
            </a:r>
            <a:endParaRPr sz="12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9" name="data-clean"/>
          <p:cNvSpPr>
            <a:spLocks noGrp="1"/>
          </p:cNvSpPr>
          <p:nvPr/>
        </p:nvSpPr>
        <p:spPr>
          <a:xfrm>
            <a:off x="2476500" y="2676525"/>
            <a:ext cx="150495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/>
          </a:bodyPr>
          <a:lstStyle>
            <a:def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采集清洗</a:t>
            </a:r>
            <a:endParaRPr sz="127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源码索引</a:t>
            </a:r>
            <a:endParaRPr sz="127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0" name="data-packet"/>
          <p:cNvSpPr>
            <a:spLocks noGrp="1"/>
          </p:cNvSpPr>
          <p:nvPr/>
        </p:nvSpPr>
        <p:spPr>
          <a:xfrm>
            <a:off x="4171950" y="2676525"/>
            <a:ext cx="15240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/>
          </a:bodyPr>
          <a:lstStyle>
            <a:def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 / 测试 / 文档</a:t>
            </a:r>
            <a:endParaRPr sz="124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路径与行号证据包</a:t>
            </a:r>
            <a:endParaRPr sz="124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1" name="直接箭头连接符 70"/>
          <p:cNvCxnSpPr>
            <a:stCxn id="68" idx="3"/>
            <a:endCxn id="69" idx="1"/>
          </p:cNvCxnSpPr>
          <p:nvPr/>
        </p:nvCxnSpPr>
        <p:spPr>
          <a:xfrm>
            <a:off x="2286000" y="2990850"/>
            <a:ext cx="190500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cxnSp>
        <p:nvCxnSpPr>
          <p:cNvPr id="72" name="直接箭头连接符 71"/>
          <p:cNvCxnSpPr>
            <a:stCxn id="69" idx="3"/>
            <a:endCxn id="70" idx="1"/>
          </p:cNvCxnSpPr>
          <p:nvPr/>
        </p:nvCxnSpPr>
        <p:spPr>
          <a:xfrm>
            <a:off x="3981450" y="2990850"/>
            <a:ext cx="190500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sp>
        <p:nvSpPr>
          <p:cNvPr id="73" name="data-path"/>
          <p:cNvSpPr>
            <a:spLocks noGrp="1"/>
          </p:cNvSpPr>
          <p:nvPr/>
        </p:nvSpPr>
        <p:spPr>
          <a:xfrm>
            <a:off x="781050" y="3486150"/>
            <a:ext cx="4914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collect_*.py · data/ · research/retrieval.py</a:t>
            </a:r>
            <a:endParaRPr sz="11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4" name="module-research-panel"/>
          <p:cNvSpPr>
            <a:spLocks noGrp="1"/>
          </p:cNvSpPr>
          <p:nvPr/>
        </p:nvSpPr>
        <p:spPr>
          <a:xfrm>
            <a:off x="6324600" y="2152650"/>
            <a:ext cx="5257800" cy="169545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75" name="module-research-title"/>
          <p:cNvSpPr>
            <a:spLocks noGrp="1"/>
          </p:cNvSpPr>
          <p:nvPr/>
        </p:nvSpPr>
        <p:spPr>
          <a:xfrm>
            <a:off x="6496050" y="2266950"/>
            <a:ext cx="49149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模块二  任务理解闭环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6" name="analyze"/>
          <p:cNvSpPr>
            <a:spLocks noGrp="1"/>
          </p:cNvSpPr>
          <p:nvPr/>
        </p:nvSpPr>
        <p:spPr>
          <a:xfrm>
            <a:off x="6496050" y="2667000"/>
            <a:ext cx="1047750" cy="457200"/>
          </a:xfrm>
          <a:prstGeom prst="rect">
            <a:avLst/>
          </a:prstGeom>
          <a:solidFill>
            <a:srgbClr val="EDF3FA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 fontScale="93137" lnSpcReduction="10000"/>
          </a:bodyPr>
          <a:lstStyle>
            <a:def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analyze</a:t>
            </a:r>
            <a:endParaRPr sz="12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任务分析</a:t>
            </a:r>
            <a:endParaRPr sz="12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7" name="audit"/>
          <p:cNvSpPr>
            <a:spLocks noGrp="1"/>
          </p:cNvSpPr>
          <p:nvPr/>
        </p:nvSpPr>
        <p:spPr>
          <a:xfrm>
            <a:off x="7791450" y="2667000"/>
            <a:ext cx="10477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 fontScale="93137" lnSpcReduction="10000"/>
          </a:bodyPr>
          <a:lstStyle>
            <a:def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audit</a:t>
            </a:r>
            <a:endParaRPr sz="12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证据核查</a:t>
            </a:r>
            <a:endParaRPr sz="12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8" name="gate"/>
          <p:cNvSpPr>
            <a:spLocks noGrp="1"/>
          </p:cNvSpPr>
          <p:nvPr/>
        </p:nvSpPr>
        <p:spPr>
          <a:xfrm>
            <a:off x="9086850" y="2667000"/>
            <a:ext cx="1047750" cy="457200"/>
          </a:xfrm>
          <a:prstGeom prst="rect">
            <a:avLst/>
          </a:prstGeom>
          <a:solidFill>
            <a:srgbClr val="E8F4F1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 fontScale="93137" lnSpcReduction="10000"/>
          </a:bodyPr>
          <a:lstStyle>
            <a:def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gate</a:t>
            </a:r>
            <a:endParaRPr sz="12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结论门控</a:t>
            </a:r>
            <a:endParaRPr sz="12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9" name="finalize"/>
          <p:cNvSpPr>
            <a:spLocks noGrp="1"/>
          </p:cNvSpPr>
          <p:nvPr/>
        </p:nvSpPr>
        <p:spPr>
          <a:xfrm>
            <a:off x="10382250" y="2667000"/>
            <a:ext cx="1028700" cy="457200"/>
          </a:xfrm>
          <a:prstGeom prst="rect">
            <a:avLst/>
          </a:prstGeom>
          <a:solidFill>
            <a:srgbClr val="E8F4F1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 fontScale="93137" lnSpcReduction="10000"/>
          </a:bodyPr>
          <a:lstStyle>
            <a:def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finalize</a:t>
            </a:r>
            <a:endParaRPr sz="12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完整结果</a:t>
            </a:r>
            <a:endParaRPr sz="12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80" name="直接箭头连接符 79"/>
          <p:cNvCxnSpPr>
            <a:stCxn id="76" idx="3"/>
            <a:endCxn id="77" idx="1"/>
          </p:cNvCxnSpPr>
          <p:nvPr/>
        </p:nvCxnSpPr>
        <p:spPr>
          <a:xfrm>
            <a:off x="7543800" y="2895600"/>
            <a:ext cx="247650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cxnSp>
        <p:nvCxnSpPr>
          <p:cNvPr id="81" name="直接箭头连接符 80"/>
          <p:cNvCxnSpPr>
            <a:stCxn id="77" idx="3"/>
            <a:endCxn id="78" idx="1"/>
          </p:cNvCxnSpPr>
          <p:nvPr/>
        </p:nvCxnSpPr>
        <p:spPr>
          <a:xfrm>
            <a:off x="8839200" y="2895600"/>
            <a:ext cx="247650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cxnSp>
        <p:nvCxnSpPr>
          <p:cNvPr id="82" name="直接箭头连接符 81"/>
          <p:cNvCxnSpPr>
            <a:stCxn id="78" idx="3"/>
            <a:endCxn id="79" idx="1"/>
          </p:cNvCxnSpPr>
          <p:nvPr/>
        </p:nvCxnSpPr>
        <p:spPr>
          <a:xfrm>
            <a:off x="10134600" y="2895600"/>
            <a:ext cx="247650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sp>
        <p:nvSpPr>
          <p:cNvPr id="83" name="supplement-loop"/>
          <p:cNvSpPr>
            <a:spLocks noGrp="1"/>
          </p:cNvSpPr>
          <p:nvPr/>
        </p:nvSpPr>
        <p:spPr>
          <a:xfrm>
            <a:off x="7019925" y="3124200"/>
            <a:ext cx="2590800" cy="276225"/>
          </a:xfrm>
          <a:custGeom>
            <a:avLst/>
            <a:gdLst/>
            <a:ahLst/>
            <a:cxnLst/>
            <a:pathLst>
              <a:path w="2590800" h="276225">
                <a:moveTo>
                  <a:pt x="2590800" y="0"/>
                </a:moveTo>
                <a:lnTo>
                  <a:pt x="2590800" y="276225"/>
                </a:lnTo>
                <a:lnTo>
                  <a:pt x="0" y="276225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87F78"/>
            </a:solidFill>
            <a:prstDash val="solid"/>
          </a:ln>
        </p:spPr>
      </p:sp>
      <p:sp>
        <p:nvSpPr>
          <p:cNvPr id="84" name="loop-arrowhead"/>
          <p:cNvSpPr>
            <a:spLocks noGrp="1"/>
          </p:cNvSpPr>
          <p:nvPr/>
        </p:nvSpPr>
        <p:spPr>
          <a:xfrm>
            <a:off x="6962775" y="3086100"/>
            <a:ext cx="114300" cy="114300"/>
          </a:xfrm>
          <a:prstGeom prst="triangle">
            <a:avLst/>
          </a:prstGeom>
          <a:solidFill>
            <a:srgbClr val="087F78"/>
          </a:solidFill>
          <a:ln w="0">
            <a:noFill/>
          </a:ln>
        </p:spPr>
      </p:sp>
      <p:sp>
        <p:nvSpPr>
          <p:cNvPr id="85" name="supplement"/>
          <p:cNvSpPr>
            <a:spLocks noGrp="1"/>
          </p:cNvSpPr>
          <p:nvPr/>
        </p:nvSpPr>
        <p:spPr>
          <a:xfrm>
            <a:off x="7791450" y="3257550"/>
            <a:ext cx="3314700" cy="276225"/>
          </a:xfrm>
          <a:prstGeom prst="rect">
            <a:avLst/>
          </a:prstGeom>
          <a:solidFill>
            <a:srgbClr val="EDF3FA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/>
          </a:bodyPr>
          <a:lstStyle>
            <a:def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有证据缺口：supplement 补检 ≤2轮，再分析</a:t>
            </a:r>
            <a:endParaRPr sz="109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6" name="research-path"/>
          <p:cNvSpPr>
            <a:spLocks noGrp="1"/>
          </p:cNvSpPr>
          <p:nvPr/>
        </p:nvSpPr>
        <p:spPr>
          <a:xfrm>
            <a:off x="6496050" y="3581400"/>
            <a:ext cx="49149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2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research/pipeline.py · 输出目标、技术、入手建议、引用与未知项</a:t>
            </a:r>
            <a:endParaRPr sz="102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7" name="module-application-panel"/>
          <p:cNvSpPr>
            <a:spLocks noGrp="1"/>
          </p:cNvSpPr>
          <p:nvPr/>
        </p:nvSpPr>
        <p:spPr>
          <a:xfrm>
            <a:off x="609600" y="4362450"/>
            <a:ext cx="5257800" cy="2038350"/>
          </a:xfrm>
          <a:prstGeom prst="rect">
            <a:avLst/>
          </a:prstGeom>
          <a:solidFill>
            <a:srgbClr val="E8F4F1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88" name="module-application-title"/>
          <p:cNvSpPr>
            <a:spLocks noGrp="1"/>
          </p:cNvSpPr>
          <p:nvPr/>
        </p:nvSpPr>
        <p:spPr>
          <a:xfrm>
            <a:off x="781050" y="4476750"/>
            <a:ext cx="4914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模块三  评估与应用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evaluation"/>
          <p:cNvSpPr>
            <a:spLocks noGrp="1"/>
          </p:cNvSpPr>
          <p:nvPr/>
        </p:nvSpPr>
        <p:spPr>
          <a:xfrm>
            <a:off x="781050" y="4895850"/>
            <a:ext cx="23431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/>
          </a:bodyPr>
          <a:lstStyle>
            <a:def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方法验证</a:t>
            </a:r>
            <a:endParaRPr sz="12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A/B/C/D：39题 / 156份</a:t>
            </a:r>
            <a:endParaRPr sz="12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R/S/D：34题 / 102份</a:t>
            </a:r>
            <a:endParaRPr sz="12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同题比较 · 模型辅助评分</a:t>
            </a:r>
            <a:endParaRPr sz="12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0" name="prototype-application"/>
          <p:cNvSpPr>
            <a:spLocks noGrp="1"/>
          </p:cNvSpPr>
          <p:nvPr/>
        </p:nvSpPr>
        <p:spPr>
          <a:xfrm>
            <a:off x="3314700" y="4895850"/>
            <a:ext cx="2381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/>
          </a:bodyPr>
          <a:lstStyle>
            <a:def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原型应用</a:t>
            </a:r>
            <a:endParaRPr sz="12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中文任务导读 · 仓库证据追溯</a:t>
            </a:r>
            <a:endParaRPr sz="12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展示相关 GFI 与推荐理由</a:t>
            </a:r>
            <a:endParaRPr sz="12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支持流式追问</a:t>
            </a:r>
            <a:endParaRPr sz="12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1" name="evaluation-path"/>
          <p:cNvSpPr>
            <a:spLocks noGrp="1"/>
          </p:cNvSpPr>
          <p:nvPr/>
        </p:nvSpPr>
        <p:spPr>
          <a:xfrm>
            <a:off x="781050" y="6010275"/>
            <a:ext cx="23431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run_*.py · judge_*.py · experiments/</a:t>
            </a:r>
            <a:endParaRPr sz="100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" name="prototype-path"/>
          <p:cNvSpPr>
            <a:spLocks noGrp="1"/>
          </p:cNvSpPr>
          <p:nvPr/>
        </p:nvSpPr>
        <p:spPr>
          <a:xfrm>
            <a:off x="3314700" y="6010275"/>
            <a:ext cx="2381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gfi_prototype/portal*.py · chat.py · web/</a:t>
            </a:r>
            <a:endParaRPr sz="9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3" name="module-recommendation-panel"/>
          <p:cNvSpPr>
            <a:spLocks noGrp="1"/>
          </p:cNvSpPr>
          <p:nvPr/>
        </p:nvSpPr>
        <p:spPr>
          <a:xfrm>
            <a:off x="6324600" y="4362450"/>
            <a:ext cx="5257800" cy="2038350"/>
          </a:xfrm>
          <a:prstGeom prst="rect">
            <a:avLst/>
          </a:prstGeom>
          <a:solidFill>
            <a:srgbClr val="EDF3FA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94" name="module-recommendation-title"/>
          <p:cNvSpPr>
            <a:spLocks noGrp="1"/>
          </p:cNvSpPr>
          <p:nvPr/>
        </p:nvSpPr>
        <p:spPr>
          <a:xfrm>
            <a:off x="6496050" y="4476750"/>
            <a:ext cx="4914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模块四  GFI 推荐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5" name="recommendation-tags"/>
          <p:cNvSpPr>
            <a:spLocks noGrp="1"/>
          </p:cNvSpPr>
          <p:nvPr/>
        </p:nvSpPr>
        <p:spPr>
          <a:xfrm>
            <a:off x="6496050" y="4933950"/>
            <a:ext cx="147637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/>
          </a:bodyPr>
          <a:lstStyle>
            <a:def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50份既有导读</a:t>
            </a:r>
            <a:endParaRPr sz="127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归一化技术标签</a:t>
            </a:r>
            <a:endParaRPr sz="127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6" name="recommendation-rank"/>
          <p:cNvSpPr>
            <a:spLocks noGrp="1"/>
          </p:cNvSpPr>
          <p:nvPr/>
        </p:nvSpPr>
        <p:spPr>
          <a:xfrm>
            <a:off x="8181975" y="4933950"/>
            <a:ext cx="147637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/>
          </a:bodyPr>
          <a:lstStyle>
            <a:def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筛选同项目候选</a:t>
            </a:r>
            <a:endParaRPr sz="124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加权 Jaccard 排序</a:t>
            </a:r>
            <a:endParaRPr sz="124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7" name="recommendation-reason"/>
          <p:cNvSpPr>
            <a:spLocks noGrp="1"/>
          </p:cNvSpPr>
          <p:nvPr/>
        </p:nvSpPr>
        <p:spPr>
          <a:xfrm>
            <a:off x="9867900" y="4933950"/>
            <a:ext cx="15430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 fontScale="99429"/>
          </a:bodyPr>
          <a:lstStyle>
            <a:def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共同技术与新增技术</a:t>
            </a:r>
            <a:endParaRPr sz="124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4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推荐理由与证据来源</a:t>
            </a:r>
            <a:endParaRPr sz="124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8" name="直接箭头连接符 97"/>
          <p:cNvCxnSpPr>
            <a:stCxn id="95" idx="3"/>
            <a:endCxn id="96" idx="1"/>
          </p:cNvCxnSpPr>
          <p:nvPr/>
        </p:nvCxnSpPr>
        <p:spPr>
          <a:xfrm>
            <a:off x="7972425" y="5343525"/>
            <a:ext cx="209550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cxnSp>
        <p:nvCxnSpPr>
          <p:cNvPr id="99" name="直接箭头连接符 98"/>
          <p:cNvCxnSpPr>
            <a:stCxn id="96" idx="3"/>
            <a:endCxn id="97" idx="1"/>
          </p:cNvCxnSpPr>
          <p:nvPr/>
        </p:nvCxnSpPr>
        <p:spPr>
          <a:xfrm>
            <a:off x="9658350" y="5343525"/>
            <a:ext cx="209550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sp>
        <p:nvSpPr>
          <p:cNvPr id="100" name="recommendation-path"/>
          <p:cNvSpPr>
            <a:spLocks noGrp="1"/>
          </p:cNvSpPr>
          <p:nvPr/>
        </p:nvSpPr>
        <p:spPr>
          <a:xfrm>
            <a:off x="6496050" y="5972175"/>
            <a:ext cx="491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gfi_prototype/task_matching.py · 输出同项目候选及可追溯推荐理由</a:t>
            </a:r>
            <a:endParaRPr sz="10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1" name="直接箭头连接符 100"/>
          <p:cNvCxnSpPr>
            <a:stCxn id="66" idx="3"/>
            <a:endCxn id="74" idx="1"/>
          </p:cNvCxnSpPr>
          <p:nvPr/>
        </p:nvCxnSpPr>
        <p:spPr>
          <a:xfrm>
            <a:off x="5867400" y="3000375"/>
            <a:ext cx="457200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cxnSp>
        <p:nvCxnSpPr>
          <p:cNvPr id="102" name="直接箭头连接符 101"/>
          <p:cNvCxnSpPr>
            <a:stCxn id="66" idx="2"/>
            <a:endCxn id="87" idx="0"/>
          </p:cNvCxnSpPr>
          <p:nvPr/>
        </p:nvCxnSpPr>
        <p:spPr>
          <a:xfrm>
            <a:off x="3238500" y="3848100"/>
            <a:ext cx="0" cy="51435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sp>
        <p:nvSpPr>
          <p:cNvPr id="103" name="relation-materials-label"/>
          <p:cNvSpPr>
            <a:spLocks noGrp="1"/>
          </p:cNvSpPr>
          <p:nvPr/>
        </p:nvSpPr>
        <p:spPr>
          <a:xfrm>
            <a:off x="3343275" y="39624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材料与证据支撑</a:t>
            </a:r>
            <a:endParaRPr sz="109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4" name="archive-input"/>
          <p:cNvSpPr>
            <a:spLocks noGrp="1"/>
          </p:cNvSpPr>
          <p:nvPr/>
        </p:nvSpPr>
        <p:spPr>
          <a:xfrm>
            <a:off x="9048750" y="3943350"/>
            <a:ext cx="247650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  <p:txBody>
          <a:bodyPr wrap="square" lIns="66675" tIns="47625" rIns="66675" bIns="47625" anchor="ctr">
            <a:normAutofit fontScale="83897"/>
          </a:bodyPr>
          <a:lstStyle>
            <a:def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既有 v2 导读档案（50份）</a:t>
            </a:r>
            <a:endParaRPr sz="106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5" name="relation-archive-to-recommendation"/>
          <p:cNvCxnSpPr/>
          <p:nvPr/>
        </p:nvCxnSpPr>
        <p:spPr>
          <a:xfrm>
            <a:off x="10287000" y="4191000"/>
            <a:ext cx="0" cy="17145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sp>
        <p:nvSpPr>
          <p:cNvPr id="106" name="relation-research-to-evaluation"/>
          <p:cNvSpPr>
            <a:spLocks noGrp="1"/>
          </p:cNvSpPr>
          <p:nvPr/>
        </p:nvSpPr>
        <p:spPr>
          <a:xfrm>
            <a:off x="5867400" y="3848100"/>
            <a:ext cx="1752600" cy="981075"/>
          </a:xfrm>
          <a:custGeom>
            <a:avLst/>
            <a:gdLst/>
            <a:ahLst/>
            <a:cxnLst/>
            <a:pathLst>
              <a:path w="1752600" h="981075">
                <a:moveTo>
                  <a:pt x="1752600" y="0"/>
                </a:moveTo>
                <a:lnTo>
                  <a:pt x="1752600" y="266700"/>
                </a:lnTo>
                <a:lnTo>
                  <a:pt x="228600" y="266700"/>
                </a:lnTo>
                <a:lnTo>
                  <a:pt x="228600" y="981075"/>
                </a:lnTo>
                <a:lnTo>
                  <a:pt x="0" y="981075"/>
                </a:lnTo>
              </a:path>
            </a:pathLst>
          </a:custGeom>
          <a:noFill/>
          <a:ln w="19050">
            <a:solidFill>
              <a:srgbClr val="087F78"/>
            </a:solidFill>
            <a:prstDash val="solid"/>
          </a:ln>
        </p:spPr>
      </p:sp>
      <p:sp>
        <p:nvSpPr>
          <p:cNvPr id="107" name="relation-research-arrowhead"/>
          <p:cNvSpPr>
            <a:spLocks noGrp="1"/>
          </p:cNvSpPr>
          <p:nvPr/>
        </p:nvSpPr>
        <p:spPr>
          <a:xfrm rot="16200000">
            <a:off x="5810250" y="4772025"/>
            <a:ext cx="114300" cy="114300"/>
          </a:xfrm>
          <a:prstGeom prst="triangle">
            <a:avLst/>
          </a:prstGeom>
          <a:solidFill>
            <a:srgbClr val="087F78"/>
          </a:solidFill>
          <a:ln w="0">
            <a:noFill/>
          </a:ln>
        </p:spPr>
      </p:sp>
      <p:sp>
        <p:nvSpPr>
          <p:cNvPr id="108" name="relation-evaluation-label"/>
          <p:cNvSpPr>
            <a:spLocks noGrp="1"/>
          </p:cNvSpPr>
          <p:nvPr/>
        </p:nvSpPr>
        <p:spPr>
          <a:xfrm>
            <a:off x="6191250" y="3895725"/>
            <a:ext cx="13811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研究结果评估</a:t>
            </a:r>
            <a:endParaRPr sz="105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9" name="直接箭头连接符 108"/>
          <p:cNvCxnSpPr>
            <a:stCxn id="93" idx="1"/>
            <a:endCxn id="87" idx="3"/>
          </p:cNvCxnSpPr>
          <p:nvPr/>
        </p:nvCxnSpPr>
        <p:spPr>
          <a:xfrm flipH="1">
            <a:off x="5867400" y="5381625"/>
            <a:ext cx="457200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title"/>
          <p:cNvSpPr>
            <a:spLocks noGrp="1"/>
          </p:cNvSpPr>
          <p:nvPr/>
        </p:nvSpPr>
        <p:spPr>
          <a:xfrm>
            <a:off x="609600" y="404495"/>
            <a:ext cx="562356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数据收集：</a:t>
            </a:r>
            <a:r>
              <a:rPr lang="zh-CN"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证据数据集的</a:t>
            </a:r>
            <a:r>
              <a:rPr lang="zh-CN"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组成</a:t>
            </a:r>
            <a:endParaRPr lang="zh-CN"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4" name="repos"/>
          <p:cNvSpPr>
            <a:spLocks noGrp="1"/>
          </p:cNvSpPr>
          <p:nvPr/>
        </p:nvSpPr>
        <p:spPr>
          <a:xfrm>
            <a:off x="609600" y="140970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Manim   /   SymPy   /   Dask   /   Ray   /   napari</a:t>
            </a:r>
            <a:endParaRPr sz="225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609600" y="2133600"/>
          <a:ext cx="10972800" cy="3524250"/>
        </p:xfrm>
        <a:graphic>
          <a:graphicData uri="http://schemas.openxmlformats.org/drawingml/2006/table">
            <a:tbl>
              <a:tblPr/>
              <a:tblGrid>
                <a:gridCol w="2714625"/>
                <a:gridCol w="1905000"/>
                <a:gridCol w="6353175"/>
              </a:tblGrid>
              <a:tr h="58737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数据类别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数量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说明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</a:tr>
              <a:tr h="58737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950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Issue记录</a:t>
                      </a:r>
                      <a:endParaRPr sz="1950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967条</a:t>
                      </a:r>
                      <a:endParaRPr sz="195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包含具体任务及汇总、指引资料</a:t>
                      </a:r>
                      <a:endParaRPr sz="195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737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950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其中：具体任务</a:t>
                      </a:r>
                      <a:endParaRPr sz="1950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945条</a:t>
                      </a:r>
                      <a:endParaRPr sz="195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具有具体问题或改进目标</a:t>
                      </a:r>
                      <a:endParaRPr sz="195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</a:tr>
              <a:tr h="58737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950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其中：非任务资料</a:t>
                      </a:r>
                      <a:endParaRPr sz="1950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22条</a:t>
                      </a:r>
                      <a:endParaRPr sz="195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汇总、跟踪与指引等辅助资料</a:t>
                      </a:r>
                      <a:endParaRPr sz="195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737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950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Issue评论</a:t>
                      </a:r>
                      <a:endParaRPr sz="1950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5,045条</a:t>
                      </a:r>
                      <a:endParaRPr sz="195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采集留档，未进入本次实验输入</a:t>
                      </a:r>
                      <a:endParaRPr sz="195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</a:tr>
              <a:tr h="58737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950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时间线事件</a:t>
                      </a:r>
                      <a:endParaRPr sz="1950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17,984条</a:t>
                      </a:r>
                      <a:endParaRPr sz="195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采集留档，未进入本次实验输入</a:t>
                      </a:r>
                      <a:endParaRPr sz="195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um"/>
          <p:cNvSpPr>
            <a:spLocks noGrp="1"/>
          </p:cNvSpPr>
          <p:nvPr/>
        </p:nvSpPr>
        <p:spPr>
          <a:xfrm>
            <a:off x="609600" y="5867400"/>
            <a:ext cx="109728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967 = 945 + 22；原始材料为任务检索与实验抽样提供基础。</a:t>
            </a:r>
            <a:endParaRPr sz="18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module-data-title"/>
          <p:cNvSpPr>
            <a:spLocks noGrp="1"/>
          </p:cNvSpPr>
          <p:nvPr/>
        </p:nvSpPr>
        <p:spPr>
          <a:xfrm>
            <a:off x="119380" y="44450"/>
            <a:ext cx="49149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模块一  数据与证据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title"/>
          <p:cNvSpPr>
            <a:spLocks noGrp="1"/>
          </p:cNvSpPr>
          <p:nvPr/>
        </p:nvSpPr>
        <p:spPr>
          <a:xfrm>
            <a:off x="609600" y="431800"/>
            <a:ext cx="800163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证据检索：把相关材料整理为可引用的依据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graphicFrame>
        <p:nvGraphicFramePr>
          <p:cNvPr id="4" name="表格 3"/>
          <p:cNvGraphicFramePr/>
          <p:nvPr/>
        </p:nvGraphicFramePr>
        <p:xfrm>
          <a:off x="609600" y="1600200"/>
          <a:ext cx="6515100" cy="3524250"/>
        </p:xfrm>
        <a:graphic>
          <a:graphicData uri="http://schemas.openxmlformats.org/drawingml/2006/table">
            <a:tbl>
              <a:tblPr/>
              <a:tblGrid>
                <a:gridCol w="1714500"/>
                <a:gridCol w="1762125"/>
                <a:gridCol w="3038475"/>
              </a:tblGrid>
              <a:tr h="70485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证据类型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来源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分析作用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</a:tr>
              <a:tr h="70485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需求证据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Issue正文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明确问题与预期行为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实现证据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Python源码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定位实现与修改入口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</a:tr>
              <a:tr h="70485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测试证据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测试文件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提供行为约束与验证入口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文档证据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文档、配置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补充接口与环境要求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5" name="parameter-0"/>
          <p:cNvSpPr>
            <a:spLocks noGrp="1"/>
          </p:cNvSpPr>
          <p:nvPr/>
        </p:nvSpPr>
        <p:spPr>
          <a:xfrm>
            <a:off x="7620000" y="1581150"/>
            <a:ext cx="39624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保留来源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parameter-body-0"/>
          <p:cNvSpPr>
            <a:spLocks noGrp="1"/>
          </p:cNvSpPr>
          <p:nvPr/>
        </p:nvSpPr>
        <p:spPr>
          <a:xfrm>
            <a:off x="7620000" y="2000250"/>
            <a:ext cx="3962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标记任务、文件与源码版本</a:t>
            </a:r>
            <a:endParaRPr sz="18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parameter-1"/>
          <p:cNvSpPr>
            <a:spLocks noGrp="1"/>
          </p:cNvSpPr>
          <p:nvPr/>
        </p:nvSpPr>
        <p:spPr>
          <a:xfrm>
            <a:off x="7620000" y="2581275"/>
            <a:ext cx="39624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拆分材料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parameter-body-1"/>
          <p:cNvSpPr>
            <a:spLocks noGrp="1"/>
          </p:cNvSpPr>
          <p:nvPr/>
        </p:nvSpPr>
        <p:spPr>
          <a:xfrm>
            <a:off x="7620000" y="3000375"/>
            <a:ext cx="3962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将代码与文档整理为重叠片段</a:t>
            </a:r>
            <a:endParaRPr sz="18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parameter-2"/>
          <p:cNvSpPr>
            <a:spLocks noGrp="1"/>
          </p:cNvSpPr>
          <p:nvPr/>
        </p:nvSpPr>
        <p:spPr>
          <a:xfrm>
            <a:off x="7620000" y="3581400"/>
            <a:ext cx="39624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按需检索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parameter-body-2"/>
          <p:cNvSpPr>
            <a:spLocks noGrp="1"/>
          </p:cNvSpPr>
          <p:nvPr/>
        </p:nvSpPr>
        <p:spPr>
          <a:xfrm>
            <a:off x="7620000" y="4000500"/>
            <a:ext cx="3962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用全文检索选取相关代码和测试</a:t>
            </a:r>
            <a:endParaRPr sz="18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parameter-3"/>
          <p:cNvSpPr>
            <a:spLocks noGrp="1"/>
          </p:cNvSpPr>
          <p:nvPr/>
        </p:nvSpPr>
        <p:spPr>
          <a:xfrm>
            <a:off x="7620000" y="4581525"/>
            <a:ext cx="39624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组织证据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parameter-body-3"/>
          <p:cNvSpPr>
            <a:spLocks noGrp="1"/>
          </p:cNvSpPr>
          <p:nvPr/>
        </p:nvSpPr>
        <p:spPr>
          <a:xfrm>
            <a:off x="7620000" y="5000625"/>
            <a:ext cx="3962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将需求、片段与来源一起提供给模型</a:t>
            </a:r>
            <a:endParaRPr sz="18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packet-format"/>
          <p:cNvSpPr>
            <a:spLocks noGrp="1"/>
          </p:cNvSpPr>
          <p:nvPr/>
        </p:nvSpPr>
        <p:spPr>
          <a:xfrm>
            <a:off x="609600" y="552450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证据包＝任务需求＋相关仓库片段＋可追溯来源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footnote"/>
          <p:cNvSpPr>
            <a:spLocks noGrp="1"/>
          </p:cNvSpPr>
          <p:nvPr/>
        </p:nvSpPr>
        <p:spPr>
          <a:xfrm>
            <a:off x="609600" y="61817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找到相关片段后，下一步判断：这些材料是否真正支持分析结论？</a:t>
            </a:r>
            <a:endParaRPr sz="13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module-data-title"/>
          <p:cNvSpPr>
            <a:spLocks noGrp="1"/>
          </p:cNvSpPr>
          <p:nvPr/>
        </p:nvSpPr>
        <p:spPr>
          <a:xfrm>
            <a:off x="119380" y="44450"/>
            <a:ext cx="49149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模块一  数据与证据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30" name="肘形连接符 29"/>
          <p:cNvCxnSpPr>
            <a:stCxn id="25" idx="3"/>
            <a:endCxn id="14" idx="2"/>
          </p:cNvCxnSpPr>
          <p:nvPr/>
        </p:nvCxnSpPr>
        <p:spPr>
          <a:xfrm flipV="1">
            <a:off x="8705850" y="3524250"/>
            <a:ext cx="1685925" cy="1509713"/>
          </a:xfrm>
          <a:prstGeom prst="bentConnector2">
            <a:avLst/>
          </a:prstGeom>
          <a:ln w="20955">
            <a:solidFill>
              <a:srgbClr val="53677B"/>
            </a:solidFill>
            <a:prstDash val="solid"/>
            <a:tailEnd type="triangle" w="sm" len="sm"/>
          </a:ln>
        </p:spPr>
      </p:cxnSp>
      <p:cxnSp>
        <p:nvCxnSpPr>
          <p:cNvPr id="29" name="肘形连接符 28"/>
          <p:cNvCxnSpPr>
            <a:stCxn id="25" idx="1"/>
            <a:endCxn id="5" idx="2"/>
          </p:cNvCxnSpPr>
          <p:nvPr/>
        </p:nvCxnSpPr>
        <p:spPr>
          <a:xfrm flipH="1" flipV="1">
            <a:off x="1790700" y="3524250"/>
            <a:ext cx="1685925" cy="1509713"/>
          </a:xfrm>
          <a:prstGeom prst="bentConnector2">
            <a:avLst/>
          </a:prstGeom>
          <a:ln w="20955">
            <a:solidFill>
              <a:srgbClr val="087F78"/>
            </a:solidFill>
            <a:prstDash val="solid"/>
            <a:tailEnd type="triangle" w="sm" len="sm"/>
          </a:ln>
        </p:spPr>
      </p:cxnSp>
      <p:cxnSp>
        <p:nvCxnSpPr>
          <p:cNvPr id="28" name="肘形连接符 27"/>
          <p:cNvCxnSpPr>
            <a:stCxn id="11" idx="2"/>
            <a:endCxn id="25" idx="0"/>
          </p:cNvCxnSpPr>
          <p:nvPr/>
        </p:nvCxnSpPr>
        <p:spPr>
          <a:xfrm flipH="1">
            <a:off x="6091238" y="3524250"/>
            <a:ext cx="1433513" cy="952500"/>
          </a:xfrm>
          <a:prstGeom prst="bentConnector4">
            <a:avLst>
              <a:gd name="adj1" fmla="val 0"/>
              <a:gd name="adj2" fmla="val 50000"/>
            </a:avLst>
          </a:prstGeom>
          <a:ln w="20955">
            <a:solidFill>
              <a:srgbClr val="087F78"/>
            </a:solidFill>
            <a:prstDash val="solid"/>
            <a:tailEnd type="triangle" w="sm" len="sm"/>
          </a:ln>
        </p:spPr>
      </p:cxnSp>
      <p:cxnSp>
        <p:nvCxnSpPr>
          <p:cNvPr id="23" name="直接箭头连接符 22"/>
          <p:cNvCxnSpPr>
            <a:stCxn id="11" idx="3"/>
            <a:endCxn id="14" idx="1"/>
          </p:cNvCxnSpPr>
          <p:nvPr/>
        </p:nvCxnSpPr>
        <p:spPr>
          <a:xfrm>
            <a:off x="8705850" y="2871788"/>
            <a:ext cx="504825" cy="0"/>
          </a:xfrm>
          <a:prstGeom prst="straightConnector1">
            <a:avLst/>
          </a:prstGeom>
          <a:ln w="20955">
            <a:solidFill>
              <a:srgbClr val="087F78"/>
            </a:solidFill>
            <a:prstDash val="solid"/>
            <a:tailEnd type="triangle" w="sm" len="sm"/>
          </a:ln>
        </p:spPr>
      </p:cxnSp>
      <p:cxnSp>
        <p:nvCxnSpPr>
          <p:cNvPr id="22" name="直接箭头连接符 21"/>
          <p:cNvCxnSpPr>
            <a:stCxn id="8" idx="3"/>
            <a:endCxn id="11" idx="1"/>
          </p:cNvCxnSpPr>
          <p:nvPr/>
        </p:nvCxnSpPr>
        <p:spPr>
          <a:xfrm>
            <a:off x="5838825" y="2871788"/>
            <a:ext cx="504825" cy="0"/>
          </a:xfrm>
          <a:prstGeom prst="straightConnector1">
            <a:avLst/>
          </a:prstGeom>
          <a:ln w="20955">
            <a:solidFill>
              <a:srgbClr val="087F78"/>
            </a:solidFill>
            <a:prstDash val="solid"/>
            <a:tailEnd type="triangle" w="sm" len="sm"/>
          </a:ln>
        </p:spPr>
      </p:cxnSp>
      <p:cxnSp>
        <p:nvCxnSpPr>
          <p:cNvPr id="21" name="直接箭头连接符 20"/>
          <p:cNvCxnSpPr>
            <a:stCxn id="5" idx="3"/>
            <a:endCxn id="8" idx="1"/>
          </p:cNvCxnSpPr>
          <p:nvPr/>
        </p:nvCxnSpPr>
        <p:spPr>
          <a:xfrm>
            <a:off x="2971800" y="2871788"/>
            <a:ext cx="504825" cy="0"/>
          </a:xfrm>
          <a:prstGeom prst="straightConnector1">
            <a:avLst/>
          </a:prstGeom>
          <a:ln w="20955">
            <a:solidFill>
              <a:srgbClr val="087F78"/>
            </a:solidFill>
            <a:prstDash val="solid"/>
            <a:tailEnd type="triangle" w="sm" len="sm"/>
          </a:ln>
        </p:spPr>
      </p:cxnSp>
      <p:sp>
        <p:nvSpPr>
          <p:cNvPr id="36" name="title"/>
          <p:cNvSpPr>
            <a:spLocks noGrp="1"/>
          </p:cNvSpPr>
          <p:nvPr/>
        </p:nvSpPr>
        <p:spPr>
          <a:xfrm>
            <a:off x="609600" y="400050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基于 LangGraph 的证据驱动 Agent 工作流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4" name="framework"/>
          <p:cNvSpPr>
            <a:spLocks noGrp="1"/>
          </p:cNvSpPr>
          <p:nvPr/>
        </p:nvSpPr>
        <p:spPr>
          <a:xfrm>
            <a:off x="609600" y="1390650"/>
            <a:ext cx="109728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先分析任务，再核查依据；结论有缺口时，补检后重新分析。</a:t>
            </a:r>
            <a:endParaRPr sz="20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analyze"/>
          <p:cNvSpPr>
            <a:spLocks noGrp="1"/>
          </p:cNvSpPr>
          <p:nvPr/>
        </p:nvSpPr>
        <p:spPr>
          <a:xfrm>
            <a:off x="609600" y="2219325"/>
            <a:ext cx="2362200" cy="1304925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6" name="analyze-title"/>
          <p:cNvSpPr>
            <a:spLocks noGrp="1"/>
          </p:cNvSpPr>
          <p:nvPr/>
        </p:nvSpPr>
        <p:spPr>
          <a:xfrm>
            <a:off x="771525" y="2352675"/>
            <a:ext cx="20383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任务分析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analyze-body"/>
          <p:cNvSpPr>
            <a:spLocks noGrp="1"/>
          </p:cNvSpPr>
          <p:nvPr/>
        </p:nvSpPr>
        <p:spPr>
          <a:xfrm>
            <a:off x="771525" y="2800350"/>
            <a:ext cx="20383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任务目标与所需基础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入手建议与证据引用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audit"/>
          <p:cNvSpPr>
            <a:spLocks noGrp="1"/>
          </p:cNvSpPr>
          <p:nvPr/>
        </p:nvSpPr>
        <p:spPr>
          <a:xfrm>
            <a:off x="3476625" y="2219325"/>
            <a:ext cx="2362200" cy="1304925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9" name="audit-title"/>
          <p:cNvSpPr>
            <a:spLocks noGrp="1"/>
          </p:cNvSpPr>
          <p:nvPr/>
        </p:nvSpPr>
        <p:spPr>
          <a:xfrm>
            <a:off x="3638550" y="2352675"/>
            <a:ext cx="20383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证据核查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audit-body"/>
          <p:cNvSpPr>
            <a:spLocks noGrp="1"/>
          </p:cNvSpPr>
          <p:nvPr/>
        </p:nvSpPr>
        <p:spPr>
          <a:xfrm>
            <a:off x="3638550" y="2800350"/>
            <a:ext cx="20383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逐条核查核心结论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识别缺口与检索词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gate"/>
          <p:cNvSpPr>
            <a:spLocks noGrp="1"/>
          </p:cNvSpPr>
          <p:nvPr/>
        </p:nvSpPr>
        <p:spPr>
          <a:xfrm>
            <a:off x="6343650" y="2219325"/>
            <a:ext cx="2362200" cy="1304925"/>
          </a:xfrm>
          <a:prstGeom prst="rect">
            <a:avLst/>
          </a:prstGeom>
          <a:solidFill>
            <a:srgbClr val="E8F4F1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12" name="gate-title"/>
          <p:cNvSpPr>
            <a:spLocks noGrp="1"/>
          </p:cNvSpPr>
          <p:nvPr/>
        </p:nvSpPr>
        <p:spPr>
          <a:xfrm>
            <a:off x="6505575" y="2352675"/>
            <a:ext cx="20383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结论门控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gate-body"/>
          <p:cNvSpPr>
            <a:spLocks noGrp="1"/>
          </p:cNvSpPr>
          <p:nvPr/>
        </p:nvSpPr>
        <p:spPr>
          <a:xfrm>
            <a:off x="6505575" y="2800350"/>
            <a:ext cx="20383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有依据的结论保留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依据不足则暂缓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finalize"/>
          <p:cNvSpPr>
            <a:spLocks noGrp="1"/>
          </p:cNvSpPr>
          <p:nvPr/>
        </p:nvSpPr>
        <p:spPr>
          <a:xfrm>
            <a:off x="9210675" y="2219325"/>
            <a:ext cx="2362200" cy="1304925"/>
          </a:xfrm>
          <a:prstGeom prst="rect">
            <a:avLst/>
          </a:prstGeom>
          <a:solidFill>
            <a:srgbClr val="142A40"/>
          </a:solidFill>
          <a:ln w="9525">
            <a:solidFill>
              <a:srgbClr val="142A40"/>
            </a:solidFill>
            <a:prstDash val="solid"/>
          </a:ln>
        </p:spPr>
      </p:sp>
      <p:sp>
        <p:nvSpPr>
          <p:cNvPr id="15" name="finalize-title"/>
          <p:cNvSpPr>
            <a:spLocks noGrp="1"/>
          </p:cNvSpPr>
          <p:nvPr/>
        </p:nvSpPr>
        <p:spPr>
          <a:xfrm>
            <a:off x="9372600" y="2352675"/>
            <a:ext cx="20383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结果输出</a:t>
            </a:r>
            <a:endParaRPr sz="21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finalize-body"/>
          <p:cNvSpPr>
            <a:spLocks noGrp="1"/>
          </p:cNvSpPr>
          <p:nvPr/>
        </p:nvSpPr>
        <p:spPr>
          <a:xfrm>
            <a:off x="9372600" y="2800350"/>
            <a:ext cx="20383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最后完整轮结果</a:t>
            </a:r>
            <a:endParaRPr sz="1725" b="0">
              <a:solidFill>
                <a:srgbClr val="CEE3E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CEE3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证据与停止原因</a:t>
            </a:r>
            <a:endParaRPr sz="1725" b="0">
              <a:solidFill>
                <a:srgbClr val="CEE3E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analyze-code"/>
          <p:cNvSpPr>
            <a:spLocks noGrp="1"/>
          </p:cNvSpPr>
          <p:nvPr/>
        </p:nvSpPr>
        <p:spPr>
          <a:xfrm>
            <a:off x="609600" y="1943100"/>
            <a:ext cx="2362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analyze</a:t>
            </a:r>
            <a:endParaRPr sz="15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audit-code"/>
          <p:cNvSpPr>
            <a:spLocks noGrp="1"/>
          </p:cNvSpPr>
          <p:nvPr/>
        </p:nvSpPr>
        <p:spPr>
          <a:xfrm>
            <a:off x="3476625" y="1943100"/>
            <a:ext cx="2362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audit</a:t>
            </a:r>
            <a:endParaRPr sz="15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gate-code"/>
          <p:cNvSpPr>
            <a:spLocks noGrp="1"/>
          </p:cNvSpPr>
          <p:nvPr/>
        </p:nvSpPr>
        <p:spPr>
          <a:xfrm>
            <a:off x="6343650" y="1943100"/>
            <a:ext cx="2362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gate</a:t>
            </a:r>
            <a:endParaRPr sz="15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finalize-code"/>
          <p:cNvSpPr>
            <a:spLocks noGrp="1"/>
          </p:cNvSpPr>
          <p:nvPr/>
        </p:nvSpPr>
        <p:spPr>
          <a:xfrm>
            <a:off x="9210675" y="1943100"/>
            <a:ext cx="2362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finalize</a:t>
            </a:r>
            <a:endParaRPr sz="15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stop-label"/>
          <p:cNvSpPr>
            <a:spLocks noGrp="1"/>
          </p:cNvSpPr>
          <p:nvPr/>
        </p:nvSpPr>
        <p:spPr>
          <a:xfrm>
            <a:off x="8753475" y="1866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停止</a:t>
            </a:r>
            <a:endParaRPr sz="14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supplement"/>
          <p:cNvSpPr>
            <a:spLocks noGrp="1"/>
          </p:cNvSpPr>
          <p:nvPr/>
        </p:nvSpPr>
        <p:spPr>
          <a:xfrm>
            <a:off x="3476625" y="4476750"/>
            <a:ext cx="5229225" cy="1114425"/>
          </a:xfrm>
          <a:prstGeom prst="rect">
            <a:avLst/>
          </a:prstGeom>
          <a:solidFill>
            <a:srgbClr val="E8F4F1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26" name="supplement-title"/>
          <p:cNvSpPr>
            <a:spLocks noGrp="1"/>
          </p:cNvSpPr>
          <p:nvPr/>
        </p:nvSpPr>
        <p:spPr>
          <a:xfrm>
            <a:off x="3638550" y="4610100"/>
            <a:ext cx="49053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证据补检 · supplement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supplement-body"/>
          <p:cNvSpPr>
            <a:spLocks noGrp="1"/>
          </p:cNvSpPr>
          <p:nvPr/>
        </p:nvSpPr>
        <p:spPr>
          <a:xfrm>
            <a:off x="3638550" y="5057775"/>
            <a:ext cx="490537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按缺口检索、去重与来源核验，更新证据包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loop-label"/>
          <p:cNvSpPr>
            <a:spLocks noGrp="1"/>
          </p:cNvSpPr>
          <p:nvPr/>
        </p:nvSpPr>
        <p:spPr>
          <a:xfrm>
            <a:off x="2095500" y="3943350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新证据 → 重新分析</a:t>
            </a:r>
            <a:endParaRPr sz="165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decision"/>
          <p:cNvSpPr>
            <a:spLocks noGrp="1"/>
          </p:cNvSpPr>
          <p:nvPr/>
        </p:nvSpPr>
        <p:spPr>
          <a:xfrm>
            <a:off x="7810500" y="3733800"/>
            <a:ext cx="342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有缺口，且允许继续补检</a:t>
            </a:r>
            <a:endParaRPr sz="15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empty-stop"/>
          <p:cNvSpPr>
            <a:spLocks noGrp="1"/>
          </p:cNvSpPr>
          <p:nvPr/>
        </p:nvSpPr>
        <p:spPr>
          <a:xfrm>
            <a:off x="9020175" y="5200650"/>
            <a:ext cx="254317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无新证据／检索失败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返回最后完整轮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limits"/>
          <p:cNvSpPr>
            <a:spLocks noGrp="1"/>
          </p:cNvSpPr>
          <p:nvPr/>
        </p:nvSpPr>
        <p:spPr>
          <a:xfrm>
            <a:off x="609600" y="58007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有依据的结论保留，证据缺口触发补检；最多补检2轮。</a:t>
            </a:r>
            <a:endParaRPr sz="187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footnote"/>
          <p:cNvSpPr>
            <a:spLocks noGrp="1"/>
          </p:cNvSpPr>
          <p:nvPr/>
        </p:nvSpPr>
        <p:spPr>
          <a:xfrm>
            <a:off x="609600" y="61817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LangGraph编排流程；LangChain接入DeepSeek Flash，承担任务分析与证据核查两个角色。</a:t>
            </a:r>
            <a:endParaRPr sz="13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990" y="44450"/>
            <a:ext cx="6096000" cy="3803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模块二  任务理解闭环</a:t>
            </a:r>
            <a:endParaRPr lang="zh-CN" altLang="en-US"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矩形 23"/>
          <p:cNvSpPr>
            <a:spLocks noGrp="1"/>
          </p:cNvSpPr>
          <p:nvPr/>
        </p:nvSpPr>
        <p:spPr>
          <a:xfrm>
            <a:off x="571500" y="361950"/>
            <a:ext cx="10953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真实案例：Ray API文档的源码链接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1038225"/>
            <a:ext cx="10953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Ray #3269：希望API文档提供可跳转到对应源码的“source”链接</a:t>
            </a:r>
            <a:endParaRPr sz="18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62198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该例可操作性R=2、S=3、D=3，D与S持平，仅作流程示例。未实际构建文档或验证链接。</a:t>
            </a:r>
            <a:endParaRPr sz="1275" b="0">
              <a:solidFill>
                <a:srgbClr val="7889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71500" y="2257425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225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90625" y="2257425"/>
            <a:ext cx="4191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发现缺口</a:t>
            </a:r>
            <a:endParaRPr sz="195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90625" y="2600325"/>
            <a:ext cx="4476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缺少源码链接生成机制的直接依据</a:t>
            </a:r>
            <a:endParaRPr sz="16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71500" y="3476625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225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90625" y="3476625"/>
            <a:ext cx="4191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补检证据</a:t>
            </a:r>
            <a:endParaRPr sz="195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190625" y="3819525"/>
            <a:ext cx="4476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定位conf.py中已启用的viewcode</a:t>
            </a:r>
            <a:endParaRPr sz="16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71500" y="4695825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225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90625" y="4695825"/>
            <a:ext cx="4191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更新建议</a:t>
            </a:r>
            <a:endParaRPr sz="195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190625" y="5038725"/>
            <a:ext cx="4476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先核实现有API覆盖范围，再决定修改</a:t>
            </a:r>
            <a:endParaRPr sz="16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334125" y="1714500"/>
            <a:ext cx="509587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补检得到的直接证据</a:t>
            </a:r>
            <a:endParaRPr sz="225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334125" y="2247900"/>
            <a:ext cx="50958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doc/source/conf.py  第66行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334125" y="2628900"/>
            <a:ext cx="509587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"sphinx.ext.viewcode",</a:t>
            </a:r>
            <a:endParaRPr sz="225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334125" y="3114675"/>
            <a:ext cx="509587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源码链接功能已启用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334125" y="3524250"/>
            <a:ext cx="5095875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为API文档提供查看源码的链接。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应先检查哪些页面尚未覆盖。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334125" y="4333875"/>
            <a:ext cx="5095875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.readthedocs.yaml  第136行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334125" y="4676775"/>
            <a:ext cx="509587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fail_on_warning: true</a:t>
            </a:r>
            <a:endParaRPr sz="225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334125" y="5143500"/>
            <a:ext cx="509587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出现警告会使文档构建失败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334125" y="5534025"/>
            <a:ext cx="5095875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修改后需检查文档能否正常构建，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是否引入新的警告。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190625" y="5534025"/>
            <a:ext cx="4524375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找到已有功能与验证要求</a:t>
            </a:r>
            <a:endParaRPr sz="16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覆盖范围和剩余工作量仍待核实</a:t>
            </a:r>
            <a:endParaRPr sz="16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6990" y="44450"/>
            <a:ext cx="6096000" cy="3803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模块二  任务理解闭环</a:t>
            </a:r>
            <a:endParaRPr lang="zh-CN" altLang="en-US"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0" name="title"/>
          <p:cNvSpPr>
            <a:spLocks noGrp="1"/>
          </p:cNvSpPr>
          <p:nvPr/>
        </p:nvSpPr>
        <p:spPr>
          <a:xfrm>
            <a:off x="609600" y="400050"/>
            <a:ext cx="109728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任务对话助手：证据支撑的流式问答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3" name="user-question"/>
          <p:cNvSpPr>
            <a:spLocks noGrp="1"/>
          </p:cNvSpPr>
          <p:nvPr/>
        </p:nvSpPr>
        <p:spPr>
          <a:xfrm>
            <a:off x="609600" y="1666875"/>
            <a:ext cx="2362200" cy="1257300"/>
          </a:xfrm>
          <a:prstGeom prst="rect">
            <a:avLst/>
          </a:prstGeom>
          <a:solidFill>
            <a:srgbClr val="EDF3FA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4" name="user-question-title"/>
          <p:cNvSpPr>
            <a:spLocks noGrp="1"/>
          </p:cNvSpPr>
          <p:nvPr/>
        </p:nvSpPr>
        <p:spPr>
          <a:xfrm>
            <a:off x="762000" y="1819275"/>
            <a:ext cx="2057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用户提问</a:t>
            </a:r>
            <a:endParaRPr sz="210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user-question-body"/>
          <p:cNvSpPr>
            <a:spLocks noGrp="1"/>
          </p:cNvSpPr>
          <p:nvPr/>
        </p:nvSpPr>
        <p:spPr>
          <a:xfrm>
            <a:off x="762000" y="2276475"/>
            <a:ext cx="2057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围绕当前 GFI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提出问题或继续追问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ask-context"/>
          <p:cNvSpPr>
            <a:spLocks noGrp="1"/>
          </p:cNvSpPr>
          <p:nvPr/>
        </p:nvSpPr>
        <p:spPr>
          <a:xfrm>
            <a:off x="3476625" y="1666875"/>
            <a:ext cx="23622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7" name="task-context-title"/>
          <p:cNvSpPr>
            <a:spLocks noGrp="1"/>
          </p:cNvSpPr>
          <p:nvPr/>
        </p:nvSpPr>
        <p:spPr>
          <a:xfrm>
            <a:off x="3629025" y="1819275"/>
            <a:ext cx="2057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组织任务资料</a:t>
            </a:r>
            <a:endParaRPr sz="210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ask-context-body"/>
          <p:cNvSpPr>
            <a:spLocks noGrp="1"/>
          </p:cNvSpPr>
          <p:nvPr/>
        </p:nvSpPr>
        <p:spPr>
          <a:xfrm>
            <a:off x="3629025" y="2276475"/>
            <a:ext cx="2057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读取已有导读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检索相关仓库证据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answer-generation"/>
          <p:cNvSpPr>
            <a:spLocks noGrp="1"/>
          </p:cNvSpPr>
          <p:nvPr/>
        </p:nvSpPr>
        <p:spPr>
          <a:xfrm>
            <a:off x="6343650" y="1666875"/>
            <a:ext cx="2362200" cy="1257300"/>
          </a:xfrm>
          <a:prstGeom prst="rect">
            <a:avLst/>
          </a:prstGeom>
          <a:solidFill>
            <a:srgbClr val="E8F4F1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10" name="answer-generation-title"/>
          <p:cNvSpPr>
            <a:spLocks noGrp="1"/>
          </p:cNvSpPr>
          <p:nvPr/>
        </p:nvSpPr>
        <p:spPr>
          <a:xfrm>
            <a:off x="6496050" y="1819275"/>
            <a:ext cx="2057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模型生成回答</a:t>
            </a:r>
            <a:endParaRPr sz="210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answer-generation-body"/>
          <p:cNvSpPr>
            <a:spLocks noGrp="1"/>
          </p:cNvSpPr>
          <p:nvPr/>
        </p:nvSpPr>
        <p:spPr>
          <a:xfrm>
            <a:off x="6496050" y="2276475"/>
            <a:ext cx="2057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结合问题与对话历史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由模型解释任务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tream-display"/>
          <p:cNvSpPr>
            <a:spLocks noGrp="1"/>
          </p:cNvSpPr>
          <p:nvPr/>
        </p:nvSpPr>
        <p:spPr>
          <a:xfrm>
            <a:off x="9210675" y="1666875"/>
            <a:ext cx="23622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13" name="stream-display-title"/>
          <p:cNvSpPr>
            <a:spLocks noGrp="1"/>
          </p:cNvSpPr>
          <p:nvPr/>
        </p:nvSpPr>
        <p:spPr>
          <a:xfrm>
            <a:off x="9363075" y="1819275"/>
            <a:ext cx="2057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流式展示</a:t>
            </a:r>
            <a:endParaRPr sz="210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stream-display-body"/>
          <p:cNvSpPr>
            <a:spLocks noGrp="1"/>
          </p:cNvSpPr>
          <p:nvPr/>
        </p:nvSpPr>
        <p:spPr>
          <a:xfrm>
            <a:off x="9363075" y="2276475"/>
            <a:ext cx="2057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逐段显示中文回答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附有用的代码引用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直接箭头连接符 14"/>
          <p:cNvCxnSpPr>
            <a:stCxn id="3" idx="3"/>
            <a:endCxn id="6" idx="1"/>
          </p:cNvCxnSpPr>
          <p:nvPr/>
        </p:nvCxnSpPr>
        <p:spPr>
          <a:xfrm>
            <a:off x="2971800" y="2295525"/>
            <a:ext cx="504825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cxnSp>
        <p:nvCxnSpPr>
          <p:cNvPr id="16" name="直接箭头连接符 15"/>
          <p:cNvCxnSpPr>
            <a:stCxn id="6" idx="3"/>
            <a:endCxn id="9" idx="1"/>
          </p:cNvCxnSpPr>
          <p:nvPr/>
        </p:nvCxnSpPr>
        <p:spPr>
          <a:xfrm>
            <a:off x="5838825" y="2295525"/>
            <a:ext cx="504825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cxnSp>
        <p:nvCxnSpPr>
          <p:cNvPr id="17" name="直接箭头连接符 16"/>
          <p:cNvCxnSpPr>
            <a:stCxn id="9" idx="3"/>
            <a:endCxn id="12" idx="1"/>
          </p:cNvCxnSpPr>
          <p:nvPr/>
        </p:nvCxnSpPr>
        <p:spPr>
          <a:xfrm>
            <a:off x="8705850" y="2295525"/>
            <a:ext cx="504825" cy="0"/>
          </a:xfrm>
          <a:prstGeom prst="straightConnector1">
            <a:avLst/>
          </a:prstGeom>
          <a:ln w="19050">
            <a:solidFill>
              <a:srgbClr val="087F78"/>
            </a:solidFill>
            <a:prstDash val="solid"/>
            <a:tailEnd type="arrow" w="med" len="med"/>
          </a:ln>
        </p:spPr>
      </p:cxnSp>
      <p:sp>
        <p:nvSpPr>
          <p:cNvPr id="18" name="followup-loop"/>
          <p:cNvSpPr>
            <a:spLocks noGrp="1"/>
          </p:cNvSpPr>
          <p:nvPr/>
        </p:nvSpPr>
        <p:spPr>
          <a:xfrm>
            <a:off x="1790700" y="2924175"/>
            <a:ext cx="8601075" cy="609600"/>
          </a:xfrm>
          <a:custGeom>
            <a:avLst/>
            <a:gdLst/>
            <a:ahLst/>
            <a:cxnLst/>
            <a:pathLst>
              <a:path w="8601075" h="609600">
                <a:moveTo>
                  <a:pt x="8601075" y="0"/>
                </a:moveTo>
                <a:lnTo>
                  <a:pt x="8601075" y="609600"/>
                </a:lnTo>
                <a:lnTo>
                  <a:pt x="0" y="60960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87F78"/>
            </a:solidFill>
            <a:prstDash val="solid"/>
          </a:ln>
        </p:spPr>
      </p:sp>
      <p:sp>
        <p:nvSpPr>
          <p:cNvPr id="19" name="followup-arrow"/>
          <p:cNvSpPr>
            <a:spLocks noGrp="1"/>
          </p:cNvSpPr>
          <p:nvPr/>
        </p:nvSpPr>
        <p:spPr>
          <a:xfrm>
            <a:off x="1733550" y="2867025"/>
            <a:ext cx="114300" cy="114300"/>
          </a:xfrm>
          <a:prstGeom prst="triangle">
            <a:avLst/>
          </a:prstGeom>
          <a:solidFill>
            <a:srgbClr val="087F78"/>
          </a:solidFill>
          <a:ln w="0">
            <a:noFill/>
          </a:ln>
        </p:spPr>
      </p:sp>
      <p:sp>
        <p:nvSpPr>
          <p:cNvPr id="20" name="followup-label-bg"/>
          <p:cNvSpPr>
            <a:spLocks noGrp="1"/>
          </p:cNvSpPr>
          <p:nvPr/>
        </p:nvSpPr>
        <p:spPr>
          <a:xfrm>
            <a:off x="4295775" y="3362325"/>
            <a:ext cx="36004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followup-label"/>
          <p:cNvSpPr>
            <a:spLocks noGrp="1"/>
          </p:cNvSpPr>
          <p:nvPr/>
        </p:nvSpPr>
        <p:spPr>
          <a:xfrm>
            <a:off x="4371975" y="3362325"/>
            <a:ext cx="3448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保留完整回答，结合近期对话继续追问</a:t>
            </a:r>
            <a:endParaRPr sz="15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section-rule"/>
          <p:cNvSpPr>
            <a:spLocks noGrp="1"/>
          </p:cNvSpPr>
          <p:nvPr/>
        </p:nvSpPr>
        <p:spPr>
          <a:xfrm>
            <a:off x="609600" y="3962400"/>
            <a:ext cx="10972800" cy="9525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23" name="technology-title"/>
          <p:cNvSpPr>
            <a:spLocks noGrp="1"/>
          </p:cNvSpPr>
          <p:nvPr/>
        </p:nvSpPr>
        <p:spPr>
          <a:xfrm>
            <a:off x="609600" y="4219575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技术框架</a:t>
            </a:r>
            <a:endParaRPr sz="202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chnology-body"/>
          <p:cNvSpPr>
            <a:spLocks noGrp="1"/>
          </p:cNvSpPr>
          <p:nvPr/>
        </p:nvSpPr>
        <p:spPr>
          <a:xfrm>
            <a:off x="609600" y="4714875"/>
            <a:ext cx="33337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LangChain + DeepSeek Flash</a:t>
            </a:r>
            <a:endParaRPr sz="165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Python + SSE 流式传输</a:t>
            </a:r>
            <a:endParaRPr sz="165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HTML / CSS / JavaScript 前端</a:t>
            </a:r>
            <a:endParaRPr sz="165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capability-title"/>
          <p:cNvSpPr>
            <a:spLocks noGrp="1"/>
          </p:cNvSpPr>
          <p:nvPr/>
        </p:nvSpPr>
        <p:spPr>
          <a:xfrm>
            <a:off x="4429125" y="4219575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可以做什么</a:t>
            </a:r>
            <a:endParaRPr sz="202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capability-body"/>
          <p:cNvSpPr>
            <a:spLocks noGrp="1"/>
          </p:cNvSpPr>
          <p:nvPr/>
        </p:nvSpPr>
        <p:spPr>
          <a:xfrm>
            <a:off x="4429125" y="4714875"/>
            <a:ext cx="33337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解释任务目标与所需技术</a:t>
            </a:r>
            <a:endParaRPr sz="161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提供代码阅读、入手与验证建议</a:t>
            </a:r>
            <a:endParaRPr sz="161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说明相关 GFI 的推荐理由</a:t>
            </a:r>
            <a:endParaRPr sz="161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evidence-title"/>
          <p:cNvSpPr>
            <a:spLocks noGrp="1"/>
          </p:cNvSpPr>
          <p:nvPr/>
        </p:nvSpPr>
        <p:spPr>
          <a:xfrm>
            <a:off x="8248650" y="4219575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根据什么输出</a:t>
            </a:r>
            <a:endParaRPr sz="202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evidence-body"/>
          <p:cNvSpPr>
            <a:spLocks noGrp="1"/>
          </p:cNvSpPr>
          <p:nvPr/>
        </p:nvSpPr>
        <p:spPr>
          <a:xfrm>
            <a:off x="8248650" y="4714875"/>
            <a:ext cx="33337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 Issue 与已有任务导读</a:t>
            </a:r>
            <a:endParaRPr sz="161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固定版本源码、测试和文档</a:t>
            </a:r>
            <a:endParaRPr sz="161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1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 GFI 推荐及近期对话</a:t>
            </a:r>
            <a:endParaRPr sz="161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boundary"/>
          <p:cNvSpPr>
            <a:spLocks noGrp="1"/>
          </p:cNvSpPr>
          <p:nvPr/>
        </p:nvSpPr>
        <p:spPr>
          <a:xfrm>
            <a:off x="609600" y="630555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回答围绕当前任务材料展开，依据不足时说明不确定性。</a:t>
            </a:r>
            <a:endParaRPr sz="13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6990" y="44450"/>
            <a:ext cx="6096000" cy="3803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模块二  任务理解闭环</a:t>
            </a:r>
            <a:endParaRPr lang="zh-CN" altLang="en-US"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itle"/>
          <p:cNvSpPr>
            <a:spLocks noGrp="1"/>
          </p:cNvSpPr>
          <p:nvPr/>
        </p:nvSpPr>
        <p:spPr>
          <a:xfrm>
            <a:off x="609600" y="400050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实验设计：逐步加入检索、核查与补检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4" name="sample"/>
          <p:cNvSpPr>
            <a:spLocks noGrp="1"/>
          </p:cNvSpPr>
          <p:nvPr/>
        </p:nvSpPr>
        <p:spPr>
          <a:xfrm>
            <a:off x="609600" y="1428750"/>
            <a:ext cx="109728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分层抽样冻结45题 − 6个试点／开发样例 = 39个正式评测任务</a:t>
            </a:r>
            <a:endParaRPr sz="21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609600" y="2152650"/>
          <a:ext cx="10972800" cy="3209925"/>
        </p:xfrm>
        <a:graphic>
          <a:graphicData uri="http://schemas.openxmlformats.org/drawingml/2006/table">
            <a:tbl>
              <a:tblPr/>
              <a:tblGrid>
                <a:gridCol w="2238375"/>
                <a:gridCol w="6048375"/>
                <a:gridCol w="2686050"/>
              </a:tblGrid>
              <a:tr h="64198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组别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输入与处理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检验的模块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</a:tr>
              <a:tr h="64198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A：仅Issue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仅阅读Issue，直接分析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基础任务理解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B：固定检索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Issue＋首次检索的仓库片段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加入仓库证据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</a:tr>
              <a:tr h="64198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C：核查与门控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固定检索＋核心结论核查、门控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增加证据约束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D：自适应补检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C流程＋按缺口补检、重新分析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完整闭环的收益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</a:tr>
            </a:tbl>
          </a:graphicData>
        </a:graphic>
      </p:graphicFrame>
      <p:sp>
        <p:nvSpPr>
          <p:cNvPr id="6" name="quotas"/>
          <p:cNvSpPr>
            <a:spLocks noGrp="1"/>
          </p:cNvSpPr>
          <p:nvPr/>
        </p:nvSpPr>
        <p:spPr>
          <a:xfrm>
            <a:off x="609600" y="5657850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Manim 8  /  SymPy 9  /  Dask 9  /  Ray 9  /  napari 4  →  156份答案</a:t>
            </a:r>
            <a:endParaRPr sz="195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footnote"/>
          <p:cNvSpPr>
            <a:spLocks noGrp="1"/>
          </p:cNvSpPr>
          <p:nvPr/>
        </p:nvSpPr>
        <p:spPr>
          <a:xfrm>
            <a:off x="609600" y="61817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每个任务运行四种流程，配对比较各模块的变化；四组分别生成，非等预算对照。</a:t>
            </a:r>
            <a:endParaRPr sz="13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module-application-title"/>
          <p:cNvSpPr>
            <a:spLocks noGrp="1"/>
          </p:cNvSpPr>
          <p:nvPr/>
        </p:nvSpPr>
        <p:spPr>
          <a:xfrm>
            <a:off x="191135" y="76200"/>
            <a:ext cx="4914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模块三  评估与应用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itle"/>
          <p:cNvSpPr>
            <a:spLocks noGrp="1"/>
          </p:cNvSpPr>
          <p:nvPr/>
        </p:nvSpPr>
        <p:spPr>
          <a:xfrm>
            <a:off x="609600" y="400050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评价方法：同一标准评分，同一任务比较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4" name="judge"/>
          <p:cNvSpPr>
            <a:spLocks noGrp="1"/>
          </p:cNvSpPr>
          <p:nvPr/>
        </p:nvSpPr>
        <p:spPr>
          <a:xfrm>
            <a:off x="609600" y="1390650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隐藏组别，由 DeepSeek Pro 依据同一任务的共同证据进行0—4级评分。</a:t>
            </a:r>
            <a:endParaRPr sz="20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609600" y="2085975"/>
          <a:ext cx="10972800" cy="3124200"/>
        </p:xfrm>
        <a:graphic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5207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评价指标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评价内容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</a:tr>
              <a:tr h="5207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正确性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解释是否符合Issue需求与仓库证据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完整性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是否覆盖关键目标、技术要求与验收内容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</a:tr>
              <a:tr h="5207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主答案可操作性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最终核心内容能否帮助明确下一步行动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不确定性表达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是否区分事实、推断和仍待确认的问题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</a:tr>
              <a:tr h="5207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原始入手指导性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原始配套步骤与文件、测试建议单独评分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ompute"/>
          <p:cNvSpPr>
            <a:spLocks noGrp="1"/>
          </p:cNvSpPr>
          <p:nvPr/>
        </p:nvSpPr>
        <p:spPr>
          <a:xfrm>
            <a:off x="609600" y="54673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均分＝总分÷有效题数；提升＝同题分差平均值；逐题统计胜／平／负。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footnote"/>
          <p:cNvSpPr>
            <a:spLocks noGrp="1"/>
          </p:cNvSpPr>
          <p:nvPr/>
        </p:nvSpPr>
        <p:spPr>
          <a:xfrm>
            <a:off x="609600" y="61817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评分0—4；无法评价记缺失。模型辅助评价，不等于人工标准答案或真实准确率。</a:t>
            </a:r>
            <a:endParaRPr sz="13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module-application-title"/>
          <p:cNvSpPr>
            <a:spLocks noGrp="1"/>
          </p:cNvSpPr>
          <p:nvPr/>
        </p:nvSpPr>
        <p:spPr>
          <a:xfrm>
            <a:off x="191135" y="76200"/>
            <a:ext cx="4914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模块三  评估与应用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title"/>
          <p:cNvSpPr>
            <a:spLocks noGrp="1"/>
          </p:cNvSpPr>
          <p:nvPr/>
        </p:nvSpPr>
        <p:spPr>
          <a:xfrm>
            <a:off x="609600" y="400050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实验结果：D组的可操作性评分更高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4" name="result-scope"/>
          <p:cNvSpPr>
            <a:spLocks noGrp="1"/>
          </p:cNvSpPr>
          <p:nvPr/>
        </p:nvSpPr>
        <p:spPr>
          <a:xfrm>
            <a:off x="609600" y="140017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39个独立任务，156份答案；模型评分均值（0—4）。</a:t>
            </a:r>
            <a:endParaRPr sz="20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609600" y="2085975"/>
          <a:ext cx="7429500" cy="3048000"/>
        </p:xfrm>
        <a:graphic>
          <a:graphicData uri="http://schemas.openxmlformats.org/drawingml/2006/table">
            <a:tbl>
              <a:tblPr/>
              <a:tblGrid>
                <a:gridCol w="2095500"/>
                <a:gridCol w="1333500"/>
                <a:gridCol w="1333500"/>
                <a:gridCol w="1333500"/>
                <a:gridCol w="1333500"/>
              </a:tblGrid>
              <a:tr h="6096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组别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正确性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完整性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可操作性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不确定性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</a:tr>
              <a:tr h="6096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A：仅Issue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3.41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2.54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2.23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3.49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B：固定检索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3.46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3.03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2.62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3.62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</a:tr>
              <a:tr h="6096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C：核查门控</a:t>
                      </a:r>
                      <a:endParaRPr sz="1875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3.18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2.62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2.44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3.13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D：自适应补检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3.56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3.13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2.92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3.62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3335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</a:tr>
            </a:tbl>
          </a:graphicData>
        </a:graphic>
      </p:graphicFrame>
      <p:sp>
        <p:nvSpPr>
          <p:cNvPr id="6" name="gain-label"/>
          <p:cNvSpPr>
            <a:spLocks noGrp="1"/>
          </p:cNvSpPr>
          <p:nvPr/>
        </p:nvSpPr>
        <p:spPr>
          <a:xfrm>
            <a:off x="8496300" y="2114550"/>
            <a:ext cx="30861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关键提升 · D相对B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gain"/>
          <p:cNvSpPr>
            <a:spLocks noGrp="1"/>
          </p:cNvSpPr>
          <p:nvPr/>
        </p:nvSpPr>
        <p:spPr>
          <a:xfrm>
            <a:off x="8496300" y="2581275"/>
            <a:ext cx="308610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75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+0.31分</a:t>
            </a:r>
            <a:endParaRPr sz="375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wins"/>
          <p:cNvSpPr>
            <a:spLocks noGrp="1"/>
          </p:cNvSpPr>
          <p:nvPr/>
        </p:nvSpPr>
        <p:spPr>
          <a:xfrm>
            <a:off x="8496300" y="3505200"/>
            <a:ext cx="30861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18题提高</a:t>
            </a:r>
            <a:endParaRPr sz="202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15题持平 · 6题下降</a:t>
            </a:r>
            <a:endParaRPr sz="202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best"/>
          <p:cNvSpPr>
            <a:spLocks noGrp="1"/>
          </p:cNvSpPr>
          <p:nvPr/>
        </p:nvSpPr>
        <p:spPr>
          <a:xfrm>
            <a:off x="8496300" y="4600575"/>
            <a:ext cx="30861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前三项均分最高；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不确定性与B持平。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cost"/>
          <p:cNvSpPr>
            <a:spLocks noGrp="1"/>
          </p:cNvSpPr>
          <p:nvPr/>
        </p:nvSpPr>
        <p:spPr>
          <a:xfrm>
            <a:off x="609600" y="5810250"/>
            <a:ext cx="109728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1">
                <a:solidFill>
                  <a:srgbClr val="A9652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1">
                <a:solidFill>
                  <a:srgbClr val="A9652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1">
                <a:solidFill>
                  <a:srgbClr val="A9652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1">
                <a:solidFill>
                  <a:srgbClr val="A9652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1">
                <a:solidFill>
                  <a:srgbClr val="A9652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1">
                <a:solidFill>
                  <a:srgbClr val="A9652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1">
                <a:solidFill>
                  <a:srgbClr val="A9652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1">
                <a:solidFill>
                  <a:srgbClr val="A9652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1">
                <a:solidFill>
                  <a:srgbClr val="A9652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资源：请求耗时中位数约5.1倍；已记录Token至少约3.9倍（D/B）。</a:t>
            </a:r>
            <a:endParaRPr sz="16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extra"/>
          <p:cNvSpPr>
            <a:spLocks noGrp="1"/>
          </p:cNvSpPr>
          <p:nvPr/>
        </p:nvSpPr>
        <p:spPr>
          <a:xfrm>
            <a:off x="609600" y="53911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观察：D组在可操作性上的提升比正确性、完整性的提升更明显。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footnote"/>
          <p:cNvSpPr>
            <a:spLocks noGrp="1"/>
          </p:cNvSpPr>
          <p:nvPr/>
        </p:nvSpPr>
        <p:spPr>
          <a:xfrm>
            <a:off x="609600" y="61817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本页156份答案来自原Python编排；现工程采用LangGraph，调用匹配实验另见后页。</a:t>
            </a:r>
            <a:endParaRPr sz="13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module-application-title"/>
          <p:cNvSpPr>
            <a:spLocks noGrp="1"/>
          </p:cNvSpPr>
          <p:nvPr/>
        </p:nvSpPr>
        <p:spPr>
          <a:xfrm>
            <a:off x="191135" y="76200"/>
            <a:ext cx="4914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模块三  评估与应用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title"/>
          <p:cNvSpPr>
            <a:spLocks noGrp="1"/>
          </p:cNvSpPr>
          <p:nvPr/>
        </p:nvSpPr>
        <p:spPr>
          <a:xfrm>
            <a:off x="609600" y="400050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细分结论：D组有帮助，但收益并不均匀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</a:ln>
        </p:spPr>
      </p:sp>
      <p:sp>
        <p:nvSpPr>
          <p:cNvPr id="3" name="scope"/>
          <p:cNvSpPr>
            <a:spLocks noGrp="1"/>
          </p:cNvSpPr>
          <p:nvPr/>
        </p:nvSpPr>
        <p:spPr>
          <a:xfrm>
            <a:off x="609600" y="14001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同题D−B可操作性：39题中18题提高、15题持平、6题下降。</a:t>
            </a:r>
            <a:endParaRPr sz="20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2095500"/>
          <a:ext cx="5429250" cy="3429000"/>
        </p:xfrm>
        <a:graphic>
          <a:graphicData uri="http://schemas.openxmlformats.org/drawingml/2006/table">
            <a:tbl>
              <a:tblPr/>
              <a:tblGrid>
                <a:gridCol w="1524000"/>
                <a:gridCol w="714375"/>
                <a:gridCol w="1285875"/>
                <a:gridCol w="1905000"/>
              </a:tblGrid>
              <a:tr h="5715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项目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题数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提升分数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胜／平／负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142A40"/>
                    </a:solidFill>
                  </a:tcPr>
                </a:tc>
              </a:tr>
              <a:tr h="5715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Manim</a:t>
                      </a:r>
                      <a:endParaRPr sz="1800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+0.13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2/5/1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Dask</a:t>
                      </a:r>
                      <a:endParaRPr sz="1800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+0.33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4/4/1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</a:tr>
              <a:tr h="5715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napari</a:t>
                      </a:r>
                      <a:endParaRPr sz="1800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+0.50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2/2/0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Ray</a:t>
                      </a:r>
                      <a:endParaRPr sz="1800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</a:t>
                      </a:r>
                      <a:endParaRPr sz="1800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+0.67</a:t>
                      </a:r>
                      <a:endParaRPr sz="1800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7/1/1</a:t>
                      </a:r>
                      <a:endParaRPr sz="1800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8F4F1"/>
                    </a:solidFill>
                  </a:tcPr>
                </a:tc>
              </a:tr>
              <a:tr h="571500">
                <a:tc>
                  <a:txBody>
                    <a:bodyPr wrap="square"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SymPy</a:t>
                      </a:r>
                      <a:endParaRPr sz="1800" b="1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+0.00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3/3/3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enefit-title"/>
          <p:cNvSpPr>
            <a:spLocks noGrp="1"/>
          </p:cNvSpPr>
          <p:nvPr/>
        </p:nvSpPr>
        <p:spPr>
          <a:xfrm>
            <a:off x="6572250" y="2095500"/>
            <a:ext cx="50101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提升集中在部分任务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benefit-body"/>
          <p:cNvSpPr>
            <a:spLocks noGrp="1"/>
          </p:cNvSpPr>
          <p:nvPr/>
        </p:nvSpPr>
        <p:spPr>
          <a:xfrm>
            <a:off x="6572250" y="2524125"/>
            <a:ext cx="501015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Ray贡献一半净增分，SymPy持平；</a:t>
            </a:r>
            <a:endParaRPr sz="18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文档类持平，重构类略降（3题）。</a:t>
            </a:r>
            <a:endParaRPr sz="18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evidence-title"/>
          <p:cNvSpPr>
            <a:spLocks noGrp="1"/>
          </p:cNvSpPr>
          <p:nvPr/>
        </p:nvSpPr>
        <p:spPr>
          <a:xfrm>
            <a:off x="6572250" y="3486150"/>
            <a:ext cx="50101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补检也可能缺少关键证据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evidence-body"/>
          <p:cNvSpPr>
            <a:spLocks noGrp="1"/>
          </p:cNvSpPr>
          <p:nvPr/>
        </p:nvSpPr>
        <p:spPr>
          <a:xfrm>
            <a:off x="6572250" y="3914775"/>
            <a:ext cx="50101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补检两轮后，部分任务仍缺少</a:t>
            </a:r>
            <a:endParaRPr sz="18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关键测试或兼容条件的依据。</a:t>
            </a:r>
            <a:endParaRPr sz="18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failure-title"/>
          <p:cNvSpPr>
            <a:spLocks noGrp="1"/>
          </p:cNvSpPr>
          <p:nvPr/>
        </p:nvSpPr>
        <p:spPr>
          <a:xfrm>
            <a:off x="6572250" y="4676775"/>
            <a:ext cx="50101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下降不全是补检造成的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failure-body"/>
          <p:cNvSpPr>
            <a:spLocks noGrp="1"/>
          </p:cNvSpPr>
          <p:nvPr/>
        </p:nvSpPr>
        <p:spPr>
          <a:xfrm>
            <a:off x="6572250" y="5095875"/>
            <a:ext cx="50101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6个下降案例中，2个没有补检；</a:t>
            </a:r>
            <a:endParaRPr sz="18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部分操作步骤仍保留在配套指导里。</a:t>
            </a:r>
            <a:endParaRPr sz="18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akeaway"/>
          <p:cNvSpPr>
            <a:spLocks noGrp="1"/>
          </p:cNvSpPr>
          <p:nvPr/>
        </p:nvSpPr>
        <p:spPr>
          <a:xfrm>
            <a:off x="609600" y="5829300"/>
            <a:ext cx="109728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调用轮数匹配对照已完成，结果见后页；实际Token另计，非严格等Token。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footnote"/>
          <p:cNvSpPr>
            <a:spLocks noGrp="1"/>
          </p:cNvSpPr>
          <p:nvPr/>
        </p:nvSpPr>
        <p:spPr>
          <a:xfrm>
            <a:off x="609600" y="6210300"/>
            <a:ext cx="10287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基于39题既有模型评分的事后细分；小样本类型仅作观察，不代表普遍效果。</a:t>
            </a:r>
            <a:endParaRPr sz="13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module-application-title"/>
          <p:cNvSpPr>
            <a:spLocks noGrp="1"/>
          </p:cNvSpPr>
          <p:nvPr/>
        </p:nvSpPr>
        <p:spPr>
          <a:xfrm>
            <a:off x="191135" y="76200"/>
            <a:ext cx="4914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模块三  评估与应用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>
            <a:spLocks noGrp="1"/>
          </p:cNvSpPr>
          <p:nvPr/>
        </p:nvSpPr>
        <p:spPr>
          <a:xfrm>
            <a:off x="571500" y="361950"/>
            <a:ext cx="10953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调用轮数匹配的对照实验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1038225"/>
            <a:ext cx="10953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区分缺口驱动补检的作用，与增加模型调用带来的作用</a:t>
            </a:r>
            <a:endParaRPr sz="18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62198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5题在D阶段因引用校验失败而中断。相同调用次数不等于相同Token消耗。</a:t>
            </a:r>
            <a:endParaRPr sz="1275" b="0">
              <a:solidFill>
                <a:srgbClr val="7889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71500" y="16859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沿用原39题，完成34题，共102份对照答案</a:t>
            </a:r>
            <a:endParaRPr sz="21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571500" y="2266950"/>
          <a:ext cx="11049000" cy="2447925"/>
        </p:xfrm>
        <a:graphic>
          <a:graphicData uri="http://schemas.openxmlformats.org/drawingml/2006/table">
            <a:tbl>
              <a:tblPr/>
              <a:tblGrid>
                <a:gridCol w="2476500"/>
                <a:gridCol w="3810000"/>
                <a:gridCol w="4762500"/>
              </a:tblGrid>
              <a:tr h="611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条件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证据策略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后续处理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</a:tr>
              <a:tr h="611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  固定证据修订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保持初始证据不变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根据旧分析与核查反馈修改答案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1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  固定查询扩展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沿原Issue查询继续取新片段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用与D相同的提示词重新分析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</a:tr>
              <a:tr h="611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  缺口驱动补检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按当前核查缺口查找新证据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更新证据，重新分析并核查</a:t>
                      </a:r>
                      <a:endParaRPr sz="1800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矩形 6"/>
          <p:cNvSpPr>
            <a:spLocks noGrp="1"/>
          </p:cNvSpPr>
          <p:nvPr/>
        </p:nvSpPr>
        <p:spPr>
          <a:xfrm>
            <a:off x="571500" y="5010150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共同起点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667000" y="5010150"/>
            <a:ext cx="8667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共享初轮分析、核查与门控结果</a:t>
            </a:r>
            <a:endParaRPr sz="21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71500" y="5543550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轮数匹配</a:t>
            </a:r>
            <a:endParaRPr sz="21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667000" y="5543550"/>
            <a:ext cx="8667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R/S与D轮数一致，最多3轮、6次调用</a:t>
            </a:r>
            <a:endParaRPr sz="21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module-application-title"/>
          <p:cNvSpPr>
            <a:spLocks noGrp="1"/>
          </p:cNvSpPr>
          <p:nvPr/>
        </p:nvSpPr>
        <p:spPr>
          <a:xfrm>
            <a:off x="191135" y="76200"/>
            <a:ext cx="4914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模块三  评估与应用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571500" y="361950"/>
            <a:ext cx="10953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对照实验结果：相对固定查询仅小幅提高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1038225"/>
            <a:ext cx="10953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同题匿名模型评分0—4级，34题完整配对，实际Token按方法归属另计</a:t>
            </a:r>
            <a:endParaRPr sz="18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62198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另有5题未完成，可能存在选择偏差。同系列模型等级评分，不代表人工准确率或统计显著性。</a:t>
            </a:r>
            <a:endParaRPr sz="1275" b="0">
              <a:solidFill>
                <a:srgbClr val="7889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571500" y="1743075"/>
          <a:ext cx="11049000" cy="2000252"/>
        </p:xfrm>
        <a:graphic>
          <a:graphicData uri="http://schemas.openxmlformats.org/drawingml/2006/table">
            <a:tbl>
              <a:tblPr/>
              <a:tblGrid>
                <a:gridCol w="1333500"/>
                <a:gridCol w="1143000"/>
                <a:gridCol w="2143125"/>
                <a:gridCol w="2143125"/>
                <a:gridCol w="2143125"/>
                <a:gridCol w="2143125"/>
              </a:tblGrid>
              <a:tr h="5000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方法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题数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正确性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完整性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可操作性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不确定性</a:t>
                      </a:r>
                      <a:endParaRPr sz="187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34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3.44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2.91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2.44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3.53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34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3.41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2.76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2.56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3.35</a:t>
                      </a:r>
                      <a:endParaRPr sz="187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34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3.47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2.91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2.68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087F78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3.53</a:t>
                      </a:r>
                      <a:endParaRPr sz="1875" b="1">
                        <a:solidFill>
                          <a:srgbClr val="087F78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EEF6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表格 5"/>
          <p:cNvGraphicFramePr/>
          <p:nvPr/>
        </p:nvGraphicFramePr>
        <p:xfrm>
          <a:off x="571500" y="3981450"/>
          <a:ext cx="11049000" cy="1304925"/>
        </p:xfrm>
        <a:graphic>
          <a:graphicData uri="http://schemas.openxmlformats.org/drawingml/2006/table">
            <a:tbl>
              <a:tblPr/>
              <a:tblGrid>
                <a:gridCol w="2095500"/>
                <a:gridCol w="3333750"/>
                <a:gridCol w="2667000"/>
                <a:gridCol w="2952750"/>
              </a:tblGrid>
              <a:tr h="4349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比较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可操作性平均差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D胜／平／负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D的Token增加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</a:tr>
              <a:tr h="4349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D−R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+0.24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7/26/1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+6.9%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9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D−S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+0.12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8/21/5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+2.8%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</a:tr>
            </a:tbl>
          </a:graphicData>
        </a:graphic>
      </p:graphicFrame>
      <p:sp>
        <p:nvSpPr>
          <p:cNvPr id="7" name="矩形 6"/>
          <p:cNvSpPr>
            <a:spLocks noGrp="1"/>
          </p:cNvSpPr>
          <p:nvPr/>
        </p:nvSpPr>
        <p:spPr>
          <a:xfrm>
            <a:off x="571500" y="5457825"/>
            <a:ext cx="110490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相对固定证据修订更有优势，相对固定查询收益有限</a:t>
            </a:r>
            <a:endParaRPr sz="202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71500" y="5838825"/>
            <a:ext cx="110490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30题子集：D−R +0.20，D−S +0.07。相对S的净增分集中于Manim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module-application-title"/>
          <p:cNvSpPr>
            <a:spLocks noGrp="1"/>
          </p:cNvSpPr>
          <p:nvPr/>
        </p:nvSpPr>
        <p:spPr>
          <a:xfrm>
            <a:off x="191135" y="76200"/>
            <a:ext cx="4914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模块三  评估与应用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" name="矩形 18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失败分析与检索修正：Ray #49011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1057275"/>
            <a:ext cx="11049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任务：展示Dashboard数据最后加载时间，并可能提供手动刷新按钮</a:t>
            </a:r>
            <a:endParaRPr sz="18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1828800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24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352550" y="1828800"/>
            <a:ext cx="44291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发现检索盲区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352550" y="2286000"/>
            <a:ext cx="4619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原索引未纳入JS/TS文件，</a:t>
            </a:r>
            <a:endParaRPr sz="180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补检后仍缺少Dashboard前端证据。</a:t>
            </a:r>
            <a:endParaRPr sz="180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71500" y="3133725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24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352550" y="3133725"/>
            <a:ext cx="44291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修正源码覆盖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52550" y="3590925"/>
            <a:ext cx="4619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独立索引增加JS/TS并过滤生成文件。</a:t>
            </a:r>
            <a:endParaRPr sz="180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旧索引、旧实验与界面保持不变。</a:t>
            </a:r>
            <a:endParaRPr sz="180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71500" y="4438650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24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352550" y="4438650"/>
            <a:ext cx="44291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获得具体阅读入口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352550" y="4895850"/>
            <a:ext cx="4619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找到刷新控件及按钮回调，</a:t>
            </a:r>
            <a:endParaRPr sz="180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入手建议指向具体前端组件。</a:t>
            </a:r>
            <a:endParaRPr sz="180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553200" y="1781175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单案例运行对照</a:t>
            </a:r>
            <a:endParaRPr sz="21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13" name="表格 12"/>
          <p:cNvGraphicFramePr/>
          <p:nvPr/>
        </p:nvGraphicFramePr>
        <p:xfrm>
          <a:off x="6553200" y="2333625"/>
          <a:ext cx="5067300" cy="2000252"/>
        </p:xfrm>
        <a:graphic>
          <a:graphicData uri="http://schemas.openxmlformats.org/drawingml/2006/table">
            <a:tbl>
              <a:tblPr/>
              <a:tblGrid>
                <a:gridCol w="2190750"/>
                <a:gridCol w="1438275"/>
                <a:gridCol w="1438275"/>
              </a:tblGrid>
              <a:tr h="5000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原配置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扩展后</a:t>
                      </a:r>
                      <a:endParaRPr sz="17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T w="9525">
                      <a:solidFill>
                        <a:srgbClr val="CFDCE5"/>
                      </a:solidFill>
                      <a:prstDash val="solid"/>
                    </a:lnT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087F78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前端证据文件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分析轮数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3F7F8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模型调用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L w="9525">
                      <a:solidFill>
                        <a:srgbClr val="CFDCE5"/>
                      </a:solidFill>
                      <a:prstDash val="solid"/>
                    </a:lnL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142A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</a:t>
                      </a:r>
                      <a:endParaRPr sz="1725" b="0">
                        <a:solidFill>
                          <a:srgbClr val="142A4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42875" marR="114300" marT="95250" marB="95250" anchor="ctr">
                    <a:lnR w="9525">
                      <a:solidFill>
                        <a:srgbClr val="CFDCE5"/>
                      </a:solidFill>
                      <a:prstDash val="solid"/>
                    </a:lnR>
                    <a:lnB w="9525">
                      <a:solidFill>
                        <a:srgbClr val="CFDC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矩形 13"/>
          <p:cNvSpPr>
            <a:spLocks noGrp="1"/>
          </p:cNvSpPr>
          <p:nvPr/>
        </p:nvSpPr>
        <p:spPr>
          <a:xfrm>
            <a:off x="6553200" y="4572000"/>
            <a:ext cx="5067300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补检命中的Ray原有前端代码</a:t>
            </a:r>
            <a:endParaRPr sz="1800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553200" y="4972050"/>
            <a:ext cx="50673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onClick={onRefreshClick}</a:t>
            </a:r>
            <a:endParaRPr sz="20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553200" y="5495925"/>
            <a:ext cx="50673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LogViewer.tsx：点击刷新按钮时执行的回调</a:t>
            </a:r>
            <a:endParaRPr sz="15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71500" y="6267450"/>
            <a:ext cx="10382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7889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事后单案例诊断，未重新评分、不合入旧34题。实际轮数不同，仅说明本次变化，不代表总体提升或已完成修复。</a:t>
            </a:r>
            <a:endParaRPr sz="1275" b="0">
              <a:solidFill>
                <a:srgbClr val="7889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module-application-title"/>
          <p:cNvSpPr>
            <a:spLocks noGrp="1"/>
          </p:cNvSpPr>
          <p:nvPr/>
        </p:nvSpPr>
        <p:spPr>
          <a:xfrm>
            <a:off x="191135" y="76200"/>
            <a:ext cx="4914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模块三  评估与应用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2" name="直接箭头连接符 21"/>
          <p:cNvCxnSpPr>
            <a:stCxn id="13" idx="3"/>
            <a:endCxn id="16" idx="1"/>
          </p:cNvCxnSpPr>
          <p:nvPr/>
        </p:nvCxnSpPr>
        <p:spPr>
          <a:xfrm>
            <a:off x="9353550" y="2319338"/>
            <a:ext cx="171450" cy="0"/>
          </a:xfrm>
          <a:prstGeom prst="straightConnector1">
            <a:avLst/>
          </a:prstGeom>
          <a:ln w="20955">
            <a:solidFill>
              <a:srgbClr val="087F78"/>
            </a:solidFill>
            <a:prstDash val="solid"/>
            <a:tailEnd type="triangle" w="sm" len="sm"/>
          </a:ln>
        </p:spPr>
      </p:cxnSp>
      <p:cxnSp>
        <p:nvCxnSpPr>
          <p:cNvPr id="21" name="直接箭头连接符 20"/>
          <p:cNvCxnSpPr>
            <a:stCxn id="10" idx="3"/>
            <a:endCxn id="13" idx="1"/>
          </p:cNvCxnSpPr>
          <p:nvPr/>
        </p:nvCxnSpPr>
        <p:spPr>
          <a:xfrm>
            <a:off x="7124700" y="2319338"/>
            <a:ext cx="171450" cy="0"/>
          </a:xfrm>
          <a:prstGeom prst="straightConnector1">
            <a:avLst/>
          </a:prstGeom>
          <a:ln w="20955">
            <a:solidFill>
              <a:srgbClr val="087F78"/>
            </a:solidFill>
            <a:prstDash val="solid"/>
            <a:tailEnd type="triangle" w="sm" len="sm"/>
          </a:ln>
        </p:spPr>
      </p:cxnSp>
      <p:cxnSp>
        <p:nvCxnSpPr>
          <p:cNvPr id="20" name="直接箭头连接符 19"/>
          <p:cNvCxnSpPr>
            <a:stCxn id="7" idx="3"/>
            <a:endCxn id="10" idx="1"/>
          </p:cNvCxnSpPr>
          <p:nvPr/>
        </p:nvCxnSpPr>
        <p:spPr>
          <a:xfrm>
            <a:off x="4895850" y="2319338"/>
            <a:ext cx="171450" cy="0"/>
          </a:xfrm>
          <a:prstGeom prst="straightConnector1">
            <a:avLst/>
          </a:prstGeom>
          <a:ln w="20955">
            <a:solidFill>
              <a:srgbClr val="087F78"/>
            </a:solidFill>
            <a:prstDash val="solid"/>
            <a:tailEnd type="triangle" w="sm" len="sm"/>
          </a:ln>
        </p:spPr>
      </p:cxnSp>
      <p:cxnSp>
        <p:nvCxnSpPr>
          <p:cNvPr id="19" name="直接箭头连接符 18"/>
          <p:cNvCxnSpPr>
            <a:stCxn id="4" idx="3"/>
            <a:endCxn id="7" idx="1"/>
          </p:cNvCxnSpPr>
          <p:nvPr/>
        </p:nvCxnSpPr>
        <p:spPr>
          <a:xfrm>
            <a:off x="2667000" y="2319338"/>
            <a:ext cx="171450" cy="0"/>
          </a:xfrm>
          <a:prstGeom prst="straightConnector1">
            <a:avLst/>
          </a:prstGeom>
          <a:ln w="20955">
            <a:solidFill>
              <a:srgbClr val="087F78"/>
            </a:solidFill>
            <a:prstDash val="solid"/>
            <a:tailEnd type="triangle" w="sm" len="sm"/>
          </a:ln>
        </p:spPr>
      </p:cxnSp>
      <p:sp>
        <p:nvSpPr>
          <p:cNvPr id="29" name="title"/>
          <p:cNvSpPr>
            <a:spLocks noGrp="1"/>
          </p:cNvSpPr>
          <p:nvPr/>
        </p:nvSpPr>
        <p:spPr>
          <a:xfrm>
            <a:off x="609600" y="400050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相关GFI推荐：解释共同技术与新增知识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4" name="rec-0"/>
          <p:cNvSpPr>
            <a:spLocks noGrp="1"/>
          </p:cNvSpPr>
          <p:nvPr/>
        </p:nvSpPr>
        <p:spPr>
          <a:xfrm>
            <a:off x="609600" y="1704975"/>
            <a:ext cx="2057400" cy="1228725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5" name="rec-0-title"/>
          <p:cNvSpPr>
            <a:spLocks noGrp="1"/>
          </p:cNvSpPr>
          <p:nvPr/>
        </p:nvSpPr>
        <p:spPr>
          <a:xfrm>
            <a:off x="771525" y="1838325"/>
            <a:ext cx="1733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任务档案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-0-body"/>
          <p:cNvSpPr>
            <a:spLocks noGrp="1"/>
          </p:cNvSpPr>
          <p:nvPr/>
        </p:nvSpPr>
        <p:spPr>
          <a:xfrm>
            <a:off x="771525" y="2286000"/>
            <a:ext cx="17335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读取已有分析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-1"/>
          <p:cNvSpPr>
            <a:spLocks noGrp="1"/>
          </p:cNvSpPr>
          <p:nvPr/>
        </p:nvSpPr>
        <p:spPr>
          <a:xfrm>
            <a:off x="2838450" y="1704975"/>
            <a:ext cx="2057400" cy="1228725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8" name="rec-1-title"/>
          <p:cNvSpPr>
            <a:spLocks noGrp="1"/>
          </p:cNvSpPr>
          <p:nvPr/>
        </p:nvSpPr>
        <p:spPr>
          <a:xfrm>
            <a:off x="3000375" y="1838325"/>
            <a:ext cx="1733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统一技术名称</a:t>
            </a:r>
            <a:endParaRPr sz="210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c-1-body"/>
          <p:cNvSpPr>
            <a:spLocks noGrp="1"/>
          </p:cNvSpPr>
          <p:nvPr/>
        </p:nvSpPr>
        <p:spPr>
          <a:xfrm>
            <a:off x="3000375" y="2286000"/>
            <a:ext cx="17335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技术名称与权重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-2"/>
          <p:cNvSpPr>
            <a:spLocks noGrp="1"/>
          </p:cNvSpPr>
          <p:nvPr/>
        </p:nvSpPr>
        <p:spPr>
          <a:xfrm>
            <a:off x="5067300" y="1704975"/>
            <a:ext cx="2057400" cy="1228725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11" name="rec-2-title"/>
          <p:cNvSpPr>
            <a:spLocks noGrp="1"/>
          </p:cNvSpPr>
          <p:nvPr/>
        </p:nvSpPr>
        <p:spPr>
          <a:xfrm>
            <a:off x="5229225" y="1838325"/>
            <a:ext cx="1733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候选筛选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-2-body"/>
          <p:cNvSpPr>
            <a:spLocks noGrp="1"/>
          </p:cNvSpPr>
          <p:nvPr/>
        </p:nvSpPr>
        <p:spPr>
          <a:xfrm>
            <a:off x="5229225" y="2286000"/>
            <a:ext cx="17335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同项目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排除当前任务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-3"/>
          <p:cNvSpPr>
            <a:spLocks noGrp="1"/>
          </p:cNvSpPr>
          <p:nvPr/>
        </p:nvSpPr>
        <p:spPr>
          <a:xfrm>
            <a:off x="7296150" y="1704975"/>
            <a:ext cx="2057400" cy="1228725"/>
          </a:xfrm>
          <a:prstGeom prst="rect">
            <a:avLst/>
          </a:prstGeom>
          <a:solidFill>
            <a:srgbClr val="FFFFFF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14" name="rec-3-title"/>
          <p:cNvSpPr>
            <a:spLocks noGrp="1"/>
          </p:cNvSpPr>
          <p:nvPr/>
        </p:nvSpPr>
        <p:spPr>
          <a:xfrm>
            <a:off x="7458075" y="1838325"/>
            <a:ext cx="1733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技术相似度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-3-body"/>
          <p:cNvSpPr>
            <a:spLocks noGrp="1"/>
          </p:cNvSpPr>
          <p:nvPr/>
        </p:nvSpPr>
        <p:spPr>
          <a:xfrm>
            <a:off x="7458075" y="2286000"/>
            <a:ext cx="17335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加权Jaccard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-4"/>
          <p:cNvSpPr>
            <a:spLocks noGrp="1"/>
          </p:cNvSpPr>
          <p:nvPr/>
        </p:nvSpPr>
        <p:spPr>
          <a:xfrm>
            <a:off x="9525000" y="1704975"/>
            <a:ext cx="2057400" cy="1228725"/>
          </a:xfrm>
          <a:prstGeom prst="rect">
            <a:avLst/>
          </a:prstGeom>
          <a:solidFill>
            <a:srgbClr val="E8F4F1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17" name="rec-4-title"/>
          <p:cNvSpPr>
            <a:spLocks noGrp="1"/>
          </p:cNvSpPr>
          <p:nvPr/>
        </p:nvSpPr>
        <p:spPr>
          <a:xfrm>
            <a:off x="9686925" y="1838325"/>
            <a:ext cx="1733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推荐解释</a:t>
            </a:r>
            <a:endParaRPr sz="217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rec-4-body"/>
          <p:cNvSpPr>
            <a:spLocks noGrp="1"/>
          </p:cNvSpPr>
          <p:nvPr/>
        </p:nvSpPr>
        <p:spPr>
          <a:xfrm>
            <a:off x="9686925" y="2286000"/>
            <a:ext cx="17335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前3项技术对照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附证据来源</a:t>
            </a:r>
            <a:endParaRPr sz="172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formula"/>
          <p:cNvSpPr>
            <a:spLocks noGrp="1"/>
          </p:cNvSpPr>
          <p:nvPr/>
        </p:nvSpPr>
        <p:spPr>
          <a:xfrm>
            <a:off x="609600" y="335280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相似度＝共同技术权重之和 ÷ 两个任务全部技术的去重权重之和</a:t>
            </a:r>
            <a:endParaRPr sz="202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eal-case"/>
          <p:cNvSpPr>
            <a:spLocks noGrp="1"/>
          </p:cNvSpPr>
          <p:nvPr/>
        </p:nvSpPr>
        <p:spPr>
          <a:xfrm>
            <a:off x="609600" y="4124325"/>
            <a:ext cx="5905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真实推荐：Manim #4983 → #4183</a:t>
            </a:r>
            <a:endParaRPr sz="2250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score"/>
          <p:cNvSpPr>
            <a:spLocks noGrp="1"/>
          </p:cNvSpPr>
          <p:nvPr/>
        </p:nvSpPr>
        <p:spPr>
          <a:xfrm>
            <a:off x="609600" y="4724400"/>
            <a:ext cx="53340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共同权重11 ／ 并集权重14</a:t>
            </a:r>
            <a:endParaRPr sz="21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相似度约0.786</a:t>
            </a:r>
            <a:endParaRPr sz="210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shared"/>
          <p:cNvSpPr>
            <a:spLocks noGrp="1"/>
          </p:cNvSpPr>
          <p:nvPr/>
        </p:nvSpPr>
        <p:spPr>
          <a:xfrm>
            <a:off x="6743700" y="4114800"/>
            <a:ext cx="4838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共同技术：Manim对象、Python、</a:t>
            </a:r>
            <a:endParaRPr sz="187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NumPy、pytest、面向对象与测试。</a:t>
            </a:r>
            <a:endParaRPr sz="187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new"/>
          <p:cNvSpPr>
            <a:spLocks noGrp="1"/>
          </p:cNvSpPr>
          <p:nvPr/>
        </p:nvSpPr>
        <p:spPr>
          <a:xfrm>
            <a:off x="6743700" y="5191125"/>
            <a:ext cx="4838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新增知识：API兼容与接口、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CI与依赖环境。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footnote"/>
          <p:cNvSpPr>
            <a:spLocks noGrp="1"/>
          </p:cNvSpPr>
          <p:nvPr/>
        </p:nvSpPr>
        <p:spPr>
          <a:xfrm>
            <a:off x="609600" y="61817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推荐基于50份已有档案，展示任务间技术联系；未纳入本轮39题任务理解评测。</a:t>
            </a:r>
            <a:endParaRPr sz="13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4" name="module-recommendation-title"/>
          <p:cNvSpPr>
            <a:spLocks noGrp="1"/>
          </p:cNvSpPr>
          <p:nvPr/>
        </p:nvSpPr>
        <p:spPr>
          <a:xfrm>
            <a:off x="119380" y="67945"/>
            <a:ext cx="4914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模块四  GFI 推荐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title"/>
          <p:cNvSpPr>
            <a:spLocks noGrp="1"/>
          </p:cNvSpPr>
          <p:nvPr/>
        </p:nvSpPr>
        <p:spPr>
          <a:xfrm>
            <a:off x="609600" y="400050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原型演示：将任务分析组织为可读导读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5" name="demo-title-0"/>
          <p:cNvSpPr>
            <a:spLocks noGrp="1"/>
          </p:cNvSpPr>
          <p:nvPr/>
        </p:nvSpPr>
        <p:spPr>
          <a:xfrm>
            <a:off x="8439150" y="1733550"/>
            <a:ext cx="3143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中文任务导读</a:t>
            </a:r>
            <a:endParaRPr sz="21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demo-body-0"/>
          <p:cNvSpPr>
            <a:spLocks noGrp="1"/>
          </p:cNvSpPr>
          <p:nvPr/>
        </p:nvSpPr>
        <p:spPr>
          <a:xfrm>
            <a:off x="8439150" y="2238375"/>
            <a:ext cx="314325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目标、技术用途与入手建议</a:t>
            </a:r>
            <a:endParaRPr sz="187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demo-title-1"/>
          <p:cNvSpPr>
            <a:spLocks noGrp="1"/>
          </p:cNvSpPr>
          <p:nvPr/>
        </p:nvSpPr>
        <p:spPr>
          <a:xfrm>
            <a:off x="8439150" y="2952750"/>
            <a:ext cx="3143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仓库证据追溯</a:t>
            </a:r>
            <a:endParaRPr sz="21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demo-body-1"/>
          <p:cNvSpPr>
            <a:spLocks noGrp="1"/>
          </p:cNvSpPr>
          <p:nvPr/>
        </p:nvSpPr>
        <p:spPr>
          <a:xfrm>
            <a:off x="8439150" y="3457575"/>
            <a:ext cx="314325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可读的源码路径和测试行号</a:t>
            </a:r>
            <a:endParaRPr sz="187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demo-title-2"/>
          <p:cNvSpPr>
            <a:spLocks noGrp="1"/>
          </p:cNvSpPr>
          <p:nvPr/>
        </p:nvSpPr>
        <p:spPr>
          <a:xfrm>
            <a:off x="8439150" y="4171950"/>
            <a:ext cx="3143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相关任务与问答</a:t>
            </a:r>
            <a:endParaRPr sz="21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demo-body-2"/>
          <p:cNvSpPr>
            <a:spLocks noGrp="1"/>
          </p:cNvSpPr>
          <p:nvPr/>
        </p:nvSpPr>
        <p:spPr>
          <a:xfrm>
            <a:off x="8439150" y="4676775"/>
            <a:ext cx="314325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解释推荐依据，支持流式追问</a:t>
            </a:r>
            <a:endParaRPr sz="1875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launch"/>
          <p:cNvSpPr>
            <a:spLocks noGrp="1"/>
          </p:cNvSpPr>
          <p:nvPr/>
        </p:nvSpPr>
        <p:spPr>
          <a:xfrm>
            <a:off x="609600" y="58388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用户沿着“任务目标—所需技术—代码与测试”逐步阅读，并可继续追问。</a:t>
            </a:r>
            <a:endParaRPr sz="187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footnote"/>
          <p:cNvSpPr>
            <a:spLocks noGrp="1"/>
          </p:cNvSpPr>
          <p:nvPr/>
        </p:nvSpPr>
        <p:spPr>
          <a:xfrm>
            <a:off x="609600" y="6181725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原型展示已有50份分析档案；研究流程用于方法验证，输出独立保存。</a:t>
            </a:r>
            <a:endParaRPr sz="1350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" name="屏幕录制 2026-10-20 111244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35280" y="1399540"/>
            <a:ext cx="7849235" cy="41821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title"/>
          <p:cNvSpPr>
            <a:spLocks noGrp="1"/>
          </p:cNvSpPr>
          <p:nvPr/>
        </p:nvSpPr>
        <p:spPr>
          <a:xfrm>
            <a:off x="609600" y="400050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方法总结：让任务解释有依据、能追溯</a:t>
            </a:r>
            <a:endParaRPr sz="3225" b="1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itle-rule"/>
          <p:cNvSpPr>
            <a:spLocks noGrp="1"/>
          </p:cNvSpPr>
          <p:nvPr/>
        </p:nvSpPr>
        <p:spPr>
          <a:xfrm>
            <a:off x="609600" y="112395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4" name="claim-1-label"/>
          <p:cNvSpPr>
            <a:spLocks noGrp="1"/>
          </p:cNvSpPr>
          <p:nvPr/>
        </p:nvSpPr>
        <p:spPr>
          <a:xfrm>
            <a:off x="609600" y="1466850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逐条核查：说明每条核心结论的依据</a:t>
            </a:r>
            <a:endParaRPr sz="202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claim-1-body"/>
          <p:cNvSpPr>
            <a:spLocks noGrp="1"/>
          </p:cNvSpPr>
          <p:nvPr/>
        </p:nvSpPr>
        <p:spPr>
          <a:xfrm>
            <a:off x="609600" y="189547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按证据支持程度保留或暂缓结论，让分析依据可以追溯。</a:t>
            </a:r>
            <a:endParaRPr sz="195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claim-2-label"/>
          <p:cNvSpPr>
            <a:spLocks noGrp="1"/>
          </p:cNvSpPr>
          <p:nvPr/>
        </p:nvSpPr>
        <p:spPr>
          <a:xfrm>
            <a:off x="609600" y="2667000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按缺口补检：用新证据完善任务解释</a:t>
            </a:r>
            <a:endParaRPr sz="202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claim-2-body"/>
          <p:cNvSpPr>
            <a:spLocks noGrp="1"/>
          </p:cNvSpPr>
          <p:nvPr/>
        </p:nvSpPr>
        <p:spPr>
          <a:xfrm>
            <a:off x="609600" y="30956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将缺失依据转为查询，更新证据后重新分析，并保存逐轮变化。</a:t>
            </a:r>
            <a:endParaRPr sz="195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claim-3-label"/>
          <p:cNvSpPr>
            <a:spLocks noGrp="1"/>
          </p:cNvSpPr>
          <p:nvPr/>
        </p:nvSpPr>
        <p:spPr>
          <a:xfrm>
            <a:off x="609600" y="3867150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解释任务联系：展示共同技术与新增知识</a:t>
            </a:r>
            <a:endParaRPr sz="202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claim-3-body"/>
          <p:cNvSpPr>
            <a:spLocks noGrp="1"/>
          </p:cNvSpPr>
          <p:nvPr/>
        </p:nvSpPr>
        <p:spPr>
          <a:xfrm>
            <a:off x="609600" y="429577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142A4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把技术档案组织为中文导读，帮助用户对照阅读相关任务。</a:t>
            </a:r>
            <a:endParaRPr sz="1950" b="0">
              <a:solidFill>
                <a:srgbClr val="142A4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outcome-line"/>
          <p:cNvSpPr>
            <a:spLocks noGrp="1"/>
          </p:cNvSpPr>
          <p:nvPr/>
        </p:nvSpPr>
        <p:spPr>
          <a:xfrm>
            <a:off x="609600" y="5067300"/>
            <a:ext cx="10972800" cy="19050"/>
          </a:xfrm>
          <a:prstGeom prst="rect">
            <a:avLst/>
          </a:prstGeom>
          <a:solidFill>
            <a:srgbClr val="CFDCE5"/>
          </a:solidFill>
          <a:ln w="9525">
            <a:solidFill>
              <a:srgbClr val="CFDCE5"/>
            </a:solidFill>
            <a:prstDash val="solid"/>
          </a:ln>
        </p:spPr>
      </p:sp>
      <p:sp>
        <p:nvSpPr>
          <p:cNvPr id="11" name="outcomes"/>
          <p:cNvSpPr>
            <a:spLocks noGrp="1"/>
          </p:cNvSpPr>
          <p:nvPr/>
        </p:nvSpPr>
        <p:spPr>
          <a:xfrm>
            <a:off x="609600" y="5286375"/>
            <a:ext cx="109728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967条Issue · 156份消融答案 · 102份对照答案 · 50份导读</a:t>
            </a:r>
            <a:endParaRPr sz="1875" b="0">
              <a:solidFill>
                <a:srgbClr val="53677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footnote"/>
          <p:cNvSpPr>
            <a:spLocks noGrp="1"/>
          </p:cNvSpPr>
          <p:nvPr/>
        </p:nvSpPr>
        <p:spPr>
          <a:xfrm>
            <a:off x="609600" y="590550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350" b="0">
                <a:solidFill>
                  <a:srgbClr val="53677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3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087F7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形成可追溯的 GFI 任务理解与贡献导航方法。</a:t>
            </a:r>
            <a:endParaRPr sz="2325" b="1">
              <a:solidFill>
                <a:srgbClr val="087F7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rack"/>
          <p:cNvSpPr>
            <a:spLocks noGrp="1"/>
          </p:cNvSpPr>
          <p:nvPr/>
        </p:nvSpPr>
        <p:spPr>
          <a:xfrm>
            <a:off x="609600" y="647700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B7D6D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科研创新赛道 · 研究方法与可运行原型</a:t>
            </a:r>
            <a:endParaRPr sz="1800" b="0">
              <a:solidFill>
                <a:srgbClr val="B7D6D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cover-title"/>
          <p:cNvSpPr>
            <a:spLocks noGrp="1"/>
          </p:cNvSpPr>
          <p:nvPr/>
        </p:nvSpPr>
        <p:spPr>
          <a:xfrm>
            <a:off x="609600" y="2750185"/>
            <a:ext cx="10972800" cy="13582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buNone/>
              <a:defRPr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谢谢大家</a:t>
            </a:r>
            <a:endParaRPr lang="zh-CN"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chool"/>
          <p:cNvSpPr>
            <a:spLocks noGrp="1"/>
          </p:cNvSpPr>
          <p:nvPr/>
        </p:nvSpPr>
        <p:spPr>
          <a:xfrm>
            <a:off x="647700" y="509587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湖北大学</a:t>
            </a:r>
            <a:endParaRPr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am"/>
          <p:cNvSpPr>
            <a:spLocks noGrp="1"/>
          </p:cNvSpPr>
          <p:nvPr/>
        </p:nvSpPr>
        <p:spPr>
          <a:xfrm>
            <a:off x="647700" y="5600700"/>
            <a:ext cx="104775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buNone/>
              <a:def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C8D9E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张博、李乐乐、胡格菲    ｜    指导教师：崔海波</a:t>
            </a:r>
            <a:endParaRPr sz="1875" b="0">
              <a:solidFill>
                <a:srgbClr val="C8D9E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5201</Words>
  <Application>WPS 演示</Application>
  <PresentationFormat>Converted Presentation</PresentationFormat>
  <Paragraphs>848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7" baseType="lpstr">
      <vt:lpstr>Arial</vt:lpstr>
      <vt:lpstr>宋体</vt:lpstr>
      <vt:lpstr>Wingdings</vt:lpstr>
      <vt:lpstr>微软雅黑</vt:lpstr>
      <vt:lpstr>Arial Unicode MS</vt:lpstr>
      <vt:lpstr>Aptos</vt:lpstr>
      <vt:lpstr>Segoe UI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 λ</cp:lastModifiedBy>
  <cp:revision>5</cp:revision>
  <dcterms:created xsi:type="dcterms:W3CDTF">2026-10-19T08:10:00Z</dcterms:created>
  <dcterms:modified xsi:type="dcterms:W3CDTF">2026-10-20T03:21:07Z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18A8A9F0A76D41C5AE3593472013103A_13</vt:lpwstr>
  </property>
  <property fmtid="{D5CDD505-2E9C-101B-9397-08002B2CF9AE}" pid="3" name="KSOProductBuildVer">
    <vt:lpwstr>2052-12.1.0.29158</vt:lpwstr>
  </property>
</Properties>
</file>